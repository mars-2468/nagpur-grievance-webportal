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67" r:id="rId4"/>
    <p:sldId id="283" r:id="rId5"/>
    <p:sldId id="284" r:id="rId6"/>
    <p:sldId id="285" r:id="rId7"/>
    <p:sldId id="286" r:id="rId8"/>
    <p:sldId id="287" r:id="rId9"/>
    <p:sldId id="288" r:id="rId10"/>
    <p:sldId id="282" r:id="rId11"/>
    <p:sldId id="280" r:id="rId12"/>
    <p:sldId id="268" r:id="rId13"/>
    <p:sldId id="281" r:id="rId14"/>
    <p:sldId id="266" r:id="rId15"/>
  </p:sldIdLst>
  <p:sldSz cx="10058400" cy="7772400"/>
  <p:notesSz cx="10058400" cy="7772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0" d="100"/>
          <a:sy n="60" d="100"/>
        </p:scale>
        <p:origin x="-1482" y="-84"/>
      </p:cViewPr>
      <p:guideLst>
        <p:guide orient="horz" pos="2448"/>
        <p:guide pos="316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7/29/2022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7/29/2022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7/29/2022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1313688"/>
            <a:ext cx="9144000" cy="5145024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179064" y="1359408"/>
            <a:ext cx="2618232" cy="5081016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7/29/2022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7/29/2022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71957" y="1313180"/>
            <a:ext cx="8714485" cy="8750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8987" y="2159304"/>
            <a:ext cx="8980424" cy="18605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7/29/2022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jpeg"/><Relationship Id="rId4" Type="http://schemas.openxmlformats.org/officeDocument/2006/relationships/image" Target="../media/image19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1313688"/>
            <a:ext cx="9144000" cy="514502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104888" y="3581400"/>
            <a:ext cx="1106424" cy="112471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751323" y="4896898"/>
            <a:ext cx="4476750" cy="927100"/>
          </a:xfrm>
          <a:prstGeom prst="rect">
            <a:avLst/>
          </a:prstGeom>
        </p:spPr>
        <p:txBody>
          <a:bodyPr vert="horz" wrap="square" lIns="0" tIns="62229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489"/>
              </a:spcBef>
            </a:pPr>
            <a:r>
              <a:rPr sz="2400" b="1" spc="-15" dirty="0">
                <a:solidFill>
                  <a:srgbClr val="FFBF00"/>
                </a:solidFill>
                <a:latin typeface="Calibri"/>
                <a:cs typeface="Calibri"/>
              </a:rPr>
              <a:t>Aurangabad</a:t>
            </a:r>
            <a:r>
              <a:rPr sz="2400" b="1" spc="-30" dirty="0">
                <a:solidFill>
                  <a:srgbClr val="FFBF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BF00"/>
                </a:solidFill>
                <a:latin typeface="Calibri"/>
                <a:cs typeface="Calibri"/>
              </a:rPr>
              <a:t>Municipal</a:t>
            </a:r>
            <a:r>
              <a:rPr sz="2400" b="1" spc="-65" dirty="0">
                <a:solidFill>
                  <a:srgbClr val="FFBF00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FFBF00"/>
                </a:solidFill>
                <a:latin typeface="Calibri"/>
                <a:cs typeface="Calibri"/>
              </a:rPr>
              <a:t>Corporation</a:t>
            </a:r>
            <a:endParaRPr sz="2400">
              <a:latin typeface="Calibri"/>
              <a:cs typeface="Calibri"/>
            </a:endParaRPr>
          </a:p>
          <a:p>
            <a:pPr marR="5080" algn="r">
              <a:lnSpc>
                <a:spcPct val="100000"/>
              </a:lnSpc>
              <a:spcBef>
                <a:spcPts val="459"/>
              </a:spcBef>
            </a:pPr>
            <a:r>
              <a:rPr sz="2800" dirty="0">
                <a:solidFill>
                  <a:srgbClr val="9DFF28"/>
                </a:solidFill>
                <a:latin typeface="Calibri"/>
                <a:cs typeface="Calibri"/>
              </a:rPr>
              <a:t>Smart</a:t>
            </a:r>
            <a:r>
              <a:rPr sz="2800" spc="-45" dirty="0">
                <a:solidFill>
                  <a:srgbClr val="9DFF28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9DFF28"/>
                </a:solidFill>
                <a:latin typeface="Calibri"/>
                <a:cs typeface="Calibri"/>
              </a:rPr>
              <a:t>Nagrik</a:t>
            </a:r>
            <a:r>
              <a:rPr sz="2800" spc="-70" dirty="0">
                <a:solidFill>
                  <a:srgbClr val="9DFF28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9DFF28"/>
                </a:solidFill>
                <a:latin typeface="Calibri"/>
                <a:cs typeface="Calibri"/>
              </a:rPr>
              <a:t>App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8345423" y="3383279"/>
            <a:ext cx="1073150" cy="1435735"/>
            <a:chOff x="8345423" y="3383279"/>
            <a:chExt cx="1073150" cy="1435735"/>
          </a:xfrm>
        </p:grpSpPr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345423" y="3383279"/>
              <a:ext cx="1072896" cy="1435608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8452103" y="3496055"/>
              <a:ext cx="862965" cy="1213485"/>
            </a:xfrm>
            <a:custGeom>
              <a:avLst/>
              <a:gdLst/>
              <a:ahLst/>
              <a:cxnLst/>
              <a:rect l="l" t="t" r="r" b="b"/>
              <a:pathLst>
                <a:path w="862965" h="1213485">
                  <a:moveTo>
                    <a:pt x="862584" y="0"/>
                  </a:moveTo>
                  <a:lnTo>
                    <a:pt x="0" y="0"/>
                  </a:lnTo>
                  <a:lnTo>
                    <a:pt x="0" y="1213104"/>
                  </a:lnTo>
                  <a:lnTo>
                    <a:pt x="862584" y="1213104"/>
                  </a:lnTo>
                  <a:lnTo>
                    <a:pt x="862584" y="1210056"/>
                  </a:lnTo>
                  <a:lnTo>
                    <a:pt x="9144" y="1210056"/>
                  </a:lnTo>
                  <a:lnTo>
                    <a:pt x="6096" y="1203960"/>
                  </a:lnTo>
                  <a:lnTo>
                    <a:pt x="9144" y="1203960"/>
                  </a:lnTo>
                  <a:lnTo>
                    <a:pt x="9144" y="9144"/>
                  </a:lnTo>
                  <a:lnTo>
                    <a:pt x="6096" y="9144"/>
                  </a:lnTo>
                  <a:lnTo>
                    <a:pt x="9144" y="3048"/>
                  </a:lnTo>
                  <a:lnTo>
                    <a:pt x="862584" y="3048"/>
                  </a:lnTo>
                  <a:lnTo>
                    <a:pt x="862584" y="0"/>
                  </a:lnTo>
                  <a:close/>
                </a:path>
                <a:path w="862965" h="1213485">
                  <a:moveTo>
                    <a:pt x="9144" y="1203960"/>
                  </a:moveTo>
                  <a:lnTo>
                    <a:pt x="6096" y="1203960"/>
                  </a:lnTo>
                  <a:lnTo>
                    <a:pt x="9144" y="1210056"/>
                  </a:lnTo>
                  <a:lnTo>
                    <a:pt x="9144" y="1203960"/>
                  </a:lnTo>
                  <a:close/>
                </a:path>
                <a:path w="862965" h="1213485">
                  <a:moveTo>
                    <a:pt x="853440" y="1203960"/>
                  </a:moveTo>
                  <a:lnTo>
                    <a:pt x="9144" y="1203960"/>
                  </a:lnTo>
                  <a:lnTo>
                    <a:pt x="9144" y="1210056"/>
                  </a:lnTo>
                  <a:lnTo>
                    <a:pt x="853440" y="1210056"/>
                  </a:lnTo>
                  <a:lnTo>
                    <a:pt x="853440" y="1203960"/>
                  </a:lnTo>
                  <a:close/>
                </a:path>
                <a:path w="862965" h="1213485">
                  <a:moveTo>
                    <a:pt x="853440" y="3048"/>
                  </a:moveTo>
                  <a:lnTo>
                    <a:pt x="853440" y="1210056"/>
                  </a:lnTo>
                  <a:lnTo>
                    <a:pt x="859536" y="1203960"/>
                  </a:lnTo>
                  <a:lnTo>
                    <a:pt x="862584" y="1203960"/>
                  </a:lnTo>
                  <a:lnTo>
                    <a:pt x="862584" y="9144"/>
                  </a:lnTo>
                  <a:lnTo>
                    <a:pt x="859536" y="9144"/>
                  </a:lnTo>
                  <a:lnTo>
                    <a:pt x="853440" y="3048"/>
                  </a:lnTo>
                  <a:close/>
                </a:path>
                <a:path w="862965" h="1213485">
                  <a:moveTo>
                    <a:pt x="862584" y="1203960"/>
                  </a:moveTo>
                  <a:lnTo>
                    <a:pt x="859536" y="1203960"/>
                  </a:lnTo>
                  <a:lnTo>
                    <a:pt x="853440" y="1210056"/>
                  </a:lnTo>
                  <a:lnTo>
                    <a:pt x="862584" y="1210056"/>
                  </a:lnTo>
                  <a:lnTo>
                    <a:pt x="862584" y="1203960"/>
                  </a:lnTo>
                  <a:close/>
                </a:path>
                <a:path w="862965" h="1213485">
                  <a:moveTo>
                    <a:pt x="9144" y="3048"/>
                  </a:moveTo>
                  <a:lnTo>
                    <a:pt x="6096" y="9144"/>
                  </a:lnTo>
                  <a:lnTo>
                    <a:pt x="9144" y="9144"/>
                  </a:lnTo>
                  <a:lnTo>
                    <a:pt x="9144" y="3048"/>
                  </a:lnTo>
                  <a:close/>
                </a:path>
                <a:path w="862965" h="1213485">
                  <a:moveTo>
                    <a:pt x="853440" y="3048"/>
                  </a:moveTo>
                  <a:lnTo>
                    <a:pt x="9144" y="3048"/>
                  </a:lnTo>
                  <a:lnTo>
                    <a:pt x="9144" y="9144"/>
                  </a:lnTo>
                  <a:lnTo>
                    <a:pt x="853440" y="9144"/>
                  </a:lnTo>
                  <a:lnTo>
                    <a:pt x="853440" y="3048"/>
                  </a:lnTo>
                  <a:close/>
                </a:path>
                <a:path w="862965" h="1213485">
                  <a:moveTo>
                    <a:pt x="862584" y="3048"/>
                  </a:moveTo>
                  <a:lnTo>
                    <a:pt x="853440" y="3048"/>
                  </a:lnTo>
                  <a:lnTo>
                    <a:pt x="859536" y="9144"/>
                  </a:lnTo>
                  <a:lnTo>
                    <a:pt x="862584" y="9144"/>
                  </a:lnTo>
                  <a:lnTo>
                    <a:pt x="862584" y="304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8009634" y="6089396"/>
            <a:ext cx="12185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FFFFFF"/>
                </a:solidFill>
                <a:latin typeface="Calibri"/>
                <a:cs typeface="Calibri"/>
              </a:rPr>
              <a:t>Date</a:t>
            </a:r>
            <a:r>
              <a:rPr sz="1200" b="1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spc="-5" dirty="0">
                <a:solidFill>
                  <a:srgbClr val="FFFFFF"/>
                </a:solidFill>
                <a:latin typeface="Calibri"/>
                <a:cs typeface="Calibri"/>
              </a:rPr>
              <a:t>:-</a:t>
            </a:r>
            <a:r>
              <a:rPr sz="1200" b="1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FFFFFF"/>
                </a:solidFill>
                <a:latin typeface="Calibri"/>
                <a:cs typeface="Calibri"/>
              </a:rPr>
              <a:t>18/07/2022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08267" y="1331467"/>
            <a:ext cx="3246755" cy="43878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700" spc="-5" dirty="0"/>
              <a:t>APP</a:t>
            </a:r>
            <a:r>
              <a:rPr sz="2700" spc="-10" dirty="0"/>
              <a:t> </a:t>
            </a:r>
            <a:r>
              <a:rPr sz="2700" spc="5" dirty="0"/>
              <a:t>Main</a:t>
            </a:r>
            <a:r>
              <a:rPr sz="2700" spc="-30" dirty="0"/>
              <a:t> </a:t>
            </a:r>
            <a:r>
              <a:rPr sz="2700" dirty="0"/>
              <a:t>/</a:t>
            </a:r>
            <a:r>
              <a:rPr sz="2700" spc="-40" dirty="0"/>
              <a:t> </a:t>
            </a:r>
            <a:r>
              <a:rPr sz="2700" dirty="0"/>
              <a:t>Home</a:t>
            </a:r>
            <a:r>
              <a:rPr sz="2700" spc="-5" dirty="0"/>
              <a:t> </a:t>
            </a:r>
            <a:r>
              <a:rPr sz="2700" spc="-20" dirty="0"/>
              <a:t>Page</a:t>
            </a:r>
            <a:endParaRPr sz="2700"/>
          </a:p>
        </p:txBody>
      </p:sp>
      <p:sp>
        <p:nvSpPr>
          <p:cNvPr id="3" name="TextBox 2"/>
          <p:cNvSpPr txBox="1"/>
          <p:nvPr/>
        </p:nvSpPr>
        <p:spPr>
          <a:xfrm>
            <a:off x="6315084" y="3314696"/>
            <a:ext cx="30718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Increase Font  size  of all  tabs </a:t>
            </a:r>
            <a:endParaRPr lang="en-US" dirty="0"/>
          </a:p>
        </p:txBody>
      </p:sp>
      <p:cxnSp>
        <p:nvCxnSpPr>
          <p:cNvPr id="5" name="Straight Arrow Connector 4"/>
          <p:cNvCxnSpPr/>
          <p:nvPr/>
        </p:nvCxnSpPr>
        <p:spPr>
          <a:xfrm rot="10800000" flipV="1">
            <a:off x="5815018" y="3671886"/>
            <a:ext cx="571504" cy="50006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784596" y="1325372"/>
            <a:ext cx="3670300" cy="84836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ts val="3725"/>
              </a:lnSpc>
              <a:spcBef>
                <a:spcPts val="90"/>
              </a:spcBef>
            </a:pPr>
            <a:r>
              <a:rPr spc="-30" dirty="0"/>
              <a:t>Know</a:t>
            </a:r>
            <a:r>
              <a:rPr spc="20" dirty="0"/>
              <a:t> </a:t>
            </a:r>
            <a:r>
              <a:rPr spc="-5" dirty="0"/>
              <a:t>/ </a:t>
            </a:r>
            <a:r>
              <a:rPr spc="-40" dirty="0"/>
              <a:t>Pay</a:t>
            </a:r>
            <a:r>
              <a:rPr spc="-20" dirty="0"/>
              <a:t> </a:t>
            </a:r>
            <a:r>
              <a:rPr spc="-65" dirty="0"/>
              <a:t>Your</a:t>
            </a:r>
            <a:r>
              <a:rPr spc="-5" dirty="0"/>
              <a:t> </a:t>
            </a:r>
            <a:r>
              <a:rPr spc="-75" dirty="0"/>
              <a:t>Taxes</a:t>
            </a:r>
          </a:p>
          <a:p>
            <a:pPr marL="1231900">
              <a:lnSpc>
                <a:spcPts val="2765"/>
              </a:lnSpc>
            </a:pPr>
            <a:r>
              <a:rPr sz="2400" spc="-360" dirty="0">
                <a:latin typeface="Nirmala UI Semilight"/>
                <a:cs typeface="Nirmala UI Semilight"/>
              </a:rPr>
              <a:t>आपले</a:t>
            </a:r>
            <a:r>
              <a:rPr sz="2400" spc="-110" dirty="0">
                <a:latin typeface="Nirmala UI Semilight"/>
                <a:cs typeface="Nirmala UI Semilight"/>
              </a:rPr>
              <a:t> </a:t>
            </a:r>
            <a:r>
              <a:rPr sz="2400" spc="-590" dirty="0">
                <a:latin typeface="Nirmala UI Semilight"/>
                <a:cs typeface="Nirmala UI Semilight"/>
              </a:rPr>
              <a:t>कर</a:t>
            </a:r>
            <a:r>
              <a:rPr sz="2400" spc="-465" dirty="0">
                <a:latin typeface="Nirmala UI Semilight"/>
                <a:cs typeface="Nirmala UI Semilight"/>
              </a:rPr>
              <a:t> </a:t>
            </a:r>
            <a:r>
              <a:rPr sz="2400" spc="-515" dirty="0">
                <a:latin typeface="Nirmala UI Semilight"/>
                <a:cs typeface="Nirmala UI Semilight"/>
              </a:rPr>
              <a:t>देय</a:t>
            </a:r>
            <a:r>
              <a:rPr sz="2400" spc="-135" dirty="0">
                <a:latin typeface="Nirmala UI Semilight"/>
                <a:cs typeface="Nirmala UI Semilight"/>
              </a:rPr>
              <a:t> </a:t>
            </a:r>
            <a:r>
              <a:rPr sz="2400" spc="-375" dirty="0">
                <a:latin typeface="Nirmala UI Semilight"/>
                <a:cs typeface="Nirmala UI Semilight"/>
              </a:rPr>
              <a:t>पहा</a:t>
            </a:r>
            <a:r>
              <a:rPr sz="2400" spc="-114" dirty="0">
                <a:latin typeface="Nirmala UI Semilight"/>
                <a:cs typeface="Nirmala UI Semilight"/>
              </a:rPr>
              <a:t> </a:t>
            </a:r>
            <a:r>
              <a:rPr sz="2400" spc="-415" dirty="0">
                <a:latin typeface="Nirmala UI Semilight"/>
                <a:cs typeface="Nirmala UI Semilight"/>
              </a:rPr>
              <a:t>आिण</a:t>
            </a:r>
            <a:r>
              <a:rPr sz="2400" spc="-110" dirty="0">
                <a:latin typeface="Nirmala UI Semilight"/>
                <a:cs typeface="Nirmala UI Semilight"/>
              </a:rPr>
              <a:t> </a:t>
            </a:r>
            <a:r>
              <a:rPr sz="2400" spc="-370" dirty="0">
                <a:latin typeface="Nirmala UI Semilight"/>
                <a:cs typeface="Nirmala UI Semilight"/>
              </a:rPr>
              <a:t>भरा</a:t>
            </a:r>
            <a:endParaRPr sz="2400">
              <a:latin typeface="Nirmala UI Semilight"/>
              <a:cs typeface="Nirmala UI Semilight"/>
            </a:endParaRPr>
          </a:p>
        </p:txBody>
      </p:sp>
      <p:pic>
        <p:nvPicPr>
          <p:cNvPr id="12" name="object 2">
            <a:extLst>
              <a:ext uri="{FF2B5EF4-FFF2-40B4-BE49-F238E27FC236}">
                <a16:creationId xmlns:a16="http://schemas.microsoft.com/office/drawing/2014/main" xmlns="" id="{F9BB9E94-6CA0-6B30-D54D-D9C110000FB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586450"/>
            <a:ext cx="9144000" cy="6172200"/>
          </a:xfrm>
          <a:prstGeom prst="rect">
            <a:avLst/>
          </a:prstGeom>
        </p:spPr>
      </p:pic>
      <p:sp>
        <p:nvSpPr>
          <p:cNvPr id="14" name="object 3">
            <a:extLst>
              <a:ext uri="{FF2B5EF4-FFF2-40B4-BE49-F238E27FC236}">
                <a16:creationId xmlns:a16="http://schemas.microsoft.com/office/drawing/2014/main" xmlns="" id="{82984255-3E2A-5C78-C541-1D062D38387B}"/>
              </a:ext>
            </a:extLst>
          </p:cNvPr>
          <p:cNvSpPr txBox="1">
            <a:spLocks/>
          </p:cNvSpPr>
          <p:nvPr/>
        </p:nvSpPr>
        <p:spPr>
          <a:xfrm>
            <a:off x="4863592" y="821388"/>
            <a:ext cx="4737608" cy="50398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>
            <a:lvl1pPr>
              <a:defRPr sz="3200" b="0" i="0">
                <a:solidFill>
                  <a:schemeClr val="bg1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spcBef>
                <a:spcPts val="90"/>
              </a:spcBef>
            </a:pPr>
            <a:r>
              <a:rPr lang="en-IN" kern="0" spc="-5" dirty="0"/>
              <a:t>  Response/Resolution</a:t>
            </a:r>
            <a:endParaRPr lang="en-IN" kern="0" spc="-10" dirty="0"/>
          </a:p>
        </p:txBody>
      </p:sp>
      <p:pic>
        <p:nvPicPr>
          <p:cNvPr id="1026" name="Picture 2" descr="C:\Users\dell\Desktop\Mobil Screen shot\WhatsApp Image 2022-07-29 at 3.32.24 PM.jpe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171812" y="2100250"/>
            <a:ext cx="2786082" cy="5672150"/>
          </a:xfrm>
          <a:prstGeom prst="rect">
            <a:avLst/>
          </a:prstGeom>
          <a:noFill/>
        </p:spPr>
      </p:pic>
      <p:pic>
        <p:nvPicPr>
          <p:cNvPr id="1027" name="Picture 3" descr="C:\Users\dell\Desktop\Mobil Screen shot\WhatsApp Image 2022-07-29 at 3.32.23 PM.jpe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0" y="1814498"/>
            <a:ext cx="3028936" cy="5957902"/>
          </a:xfrm>
          <a:prstGeom prst="rect">
            <a:avLst/>
          </a:prstGeom>
          <a:noFill/>
        </p:spPr>
      </p:pic>
      <p:sp>
        <p:nvSpPr>
          <p:cNvPr id="11" name="TextBox 10"/>
          <p:cNvSpPr txBox="1"/>
          <p:nvPr/>
        </p:nvSpPr>
        <p:spPr>
          <a:xfrm>
            <a:off x="3529002" y="4672018"/>
            <a:ext cx="23574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Need to add service form</a:t>
            </a:r>
            <a:endParaRPr lang="en-US" dirty="0"/>
          </a:p>
        </p:txBody>
      </p:sp>
      <p:cxnSp>
        <p:nvCxnSpPr>
          <p:cNvPr id="15" name="Straight Arrow Connector 14"/>
          <p:cNvCxnSpPr/>
          <p:nvPr/>
        </p:nvCxnSpPr>
        <p:spPr>
          <a:xfrm rot="5400000" flipH="1" flipV="1">
            <a:off x="3743316" y="4100514"/>
            <a:ext cx="857256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rot="10800000">
            <a:off x="2528870" y="3386134"/>
            <a:ext cx="1357322" cy="114300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>
            <a:off x="2028804" y="4171952"/>
            <a:ext cx="4357718" cy="21431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386126" y="5457836"/>
            <a:ext cx="250033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In CSMS   we added Five form for category 1. Sanitation 2.Revenue.3. Birth Certificate 4. Death Certificate .5.Health   but in App it show  revenue and  sanitation  </a:t>
            </a:r>
            <a:endParaRPr lang="en-US" dirty="0"/>
          </a:p>
        </p:txBody>
      </p:sp>
      <p:pic>
        <p:nvPicPr>
          <p:cNvPr id="21" name="Picture 4" descr="C:\Users\dell\Desktop\Mobil Screen shot\WhatsApp Image 2022-07-29 at 3.32.24 PM (1).jpeg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6315084" y="1628732"/>
            <a:ext cx="3357586" cy="6143668"/>
          </a:xfrm>
          <a:prstGeom prst="rect">
            <a:avLst/>
          </a:prstGeom>
          <a:noFill/>
        </p:spPr>
      </p:pic>
      <p:cxnSp>
        <p:nvCxnSpPr>
          <p:cNvPr id="23" name="Straight Arrow Connector 22"/>
          <p:cNvCxnSpPr/>
          <p:nvPr/>
        </p:nvCxnSpPr>
        <p:spPr>
          <a:xfrm rot="5400000" flipH="1" flipV="1">
            <a:off x="5636423" y="5207803"/>
            <a:ext cx="928694" cy="42862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31230086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784596" y="1325372"/>
            <a:ext cx="3670300" cy="84836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ts val="3725"/>
              </a:lnSpc>
              <a:spcBef>
                <a:spcPts val="90"/>
              </a:spcBef>
            </a:pPr>
            <a:r>
              <a:rPr spc="-30" dirty="0"/>
              <a:t>Know</a:t>
            </a:r>
            <a:r>
              <a:rPr spc="20" dirty="0"/>
              <a:t> </a:t>
            </a:r>
            <a:r>
              <a:rPr spc="-5" dirty="0"/>
              <a:t>/ </a:t>
            </a:r>
            <a:r>
              <a:rPr spc="-40" dirty="0"/>
              <a:t>Pay</a:t>
            </a:r>
            <a:r>
              <a:rPr spc="-20" dirty="0"/>
              <a:t> </a:t>
            </a:r>
            <a:r>
              <a:rPr spc="-65" dirty="0"/>
              <a:t>Your</a:t>
            </a:r>
            <a:r>
              <a:rPr spc="-5" dirty="0"/>
              <a:t> </a:t>
            </a:r>
            <a:r>
              <a:rPr spc="-75" dirty="0"/>
              <a:t>Taxes</a:t>
            </a:r>
          </a:p>
          <a:p>
            <a:pPr marL="1231900">
              <a:lnSpc>
                <a:spcPts val="2765"/>
              </a:lnSpc>
            </a:pPr>
            <a:r>
              <a:rPr sz="2400" spc="-360" dirty="0">
                <a:latin typeface="Nirmala UI Semilight"/>
                <a:cs typeface="Nirmala UI Semilight"/>
              </a:rPr>
              <a:t>आपले</a:t>
            </a:r>
            <a:r>
              <a:rPr sz="2400" spc="-110" dirty="0">
                <a:latin typeface="Nirmala UI Semilight"/>
                <a:cs typeface="Nirmala UI Semilight"/>
              </a:rPr>
              <a:t> </a:t>
            </a:r>
            <a:r>
              <a:rPr sz="2400" spc="-590" dirty="0">
                <a:latin typeface="Nirmala UI Semilight"/>
                <a:cs typeface="Nirmala UI Semilight"/>
              </a:rPr>
              <a:t>कर</a:t>
            </a:r>
            <a:r>
              <a:rPr sz="2400" spc="-465" dirty="0">
                <a:latin typeface="Nirmala UI Semilight"/>
                <a:cs typeface="Nirmala UI Semilight"/>
              </a:rPr>
              <a:t> </a:t>
            </a:r>
            <a:r>
              <a:rPr sz="2400" spc="-515" dirty="0">
                <a:latin typeface="Nirmala UI Semilight"/>
                <a:cs typeface="Nirmala UI Semilight"/>
              </a:rPr>
              <a:t>देय</a:t>
            </a:r>
            <a:r>
              <a:rPr sz="2400" spc="-135" dirty="0">
                <a:latin typeface="Nirmala UI Semilight"/>
                <a:cs typeface="Nirmala UI Semilight"/>
              </a:rPr>
              <a:t> </a:t>
            </a:r>
            <a:r>
              <a:rPr sz="2400" spc="-375" dirty="0">
                <a:latin typeface="Nirmala UI Semilight"/>
                <a:cs typeface="Nirmala UI Semilight"/>
              </a:rPr>
              <a:t>पहा</a:t>
            </a:r>
            <a:r>
              <a:rPr sz="2400" spc="-114" dirty="0">
                <a:latin typeface="Nirmala UI Semilight"/>
                <a:cs typeface="Nirmala UI Semilight"/>
              </a:rPr>
              <a:t> </a:t>
            </a:r>
            <a:r>
              <a:rPr sz="2400" spc="-415" dirty="0">
                <a:latin typeface="Nirmala UI Semilight"/>
                <a:cs typeface="Nirmala UI Semilight"/>
              </a:rPr>
              <a:t>आिण</a:t>
            </a:r>
            <a:r>
              <a:rPr sz="2400" spc="-110" dirty="0">
                <a:latin typeface="Nirmala UI Semilight"/>
                <a:cs typeface="Nirmala UI Semilight"/>
              </a:rPr>
              <a:t> </a:t>
            </a:r>
            <a:r>
              <a:rPr sz="2400" spc="-370" dirty="0">
                <a:latin typeface="Nirmala UI Semilight"/>
                <a:cs typeface="Nirmala UI Semilight"/>
              </a:rPr>
              <a:t>भरा</a:t>
            </a:r>
            <a:endParaRPr sz="2400">
              <a:latin typeface="Nirmala UI Semilight"/>
              <a:cs typeface="Nirmala UI Semilight"/>
            </a:endParaRPr>
          </a:p>
        </p:txBody>
      </p:sp>
      <p:pic>
        <p:nvPicPr>
          <p:cNvPr id="12" name="object 2">
            <a:extLst>
              <a:ext uri="{FF2B5EF4-FFF2-40B4-BE49-F238E27FC236}">
                <a16:creationId xmlns:a16="http://schemas.microsoft.com/office/drawing/2014/main" xmlns="" id="{F9BB9E94-6CA0-6B30-D54D-D9C110000FB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586450"/>
            <a:ext cx="9144000" cy="6172200"/>
          </a:xfrm>
          <a:prstGeom prst="rect">
            <a:avLst/>
          </a:prstGeom>
        </p:spPr>
      </p:pic>
      <p:sp>
        <p:nvSpPr>
          <p:cNvPr id="14" name="object 3">
            <a:extLst>
              <a:ext uri="{FF2B5EF4-FFF2-40B4-BE49-F238E27FC236}">
                <a16:creationId xmlns:a16="http://schemas.microsoft.com/office/drawing/2014/main" xmlns="" id="{82984255-3E2A-5C78-C541-1D062D38387B}"/>
              </a:ext>
            </a:extLst>
          </p:cNvPr>
          <p:cNvSpPr txBox="1">
            <a:spLocks/>
          </p:cNvSpPr>
          <p:nvPr/>
        </p:nvSpPr>
        <p:spPr>
          <a:xfrm>
            <a:off x="4863592" y="821388"/>
            <a:ext cx="4737608" cy="50398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>
            <a:lvl1pPr>
              <a:defRPr sz="3200" b="0" i="0">
                <a:solidFill>
                  <a:schemeClr val="bg1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spcBef>
                <a:spcPts val="90"/>
              </a:spcBef>
            </a:pPr>
            <a:r>
              <a:rPr lang="en-IN" kern="0" spc="-5" dirty="0"/>
              <a:t>  </a:t>
            </a:r>
            <a:endParaRPr lang="en-IN" kern="0" spc="-1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85730" y="2438388"/>
            <a:ext cx="9358378" cy="5334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31230086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784596" y="1325372"/>
            <a:ext cx="3670300" cy="84836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ts val="3725"/>
              </a:lnSpc>
              <a:spcBef>
                <a:spcPts val="90"/>
              </a:spcBef>
            </a:pPr>
            <a:r>
              <a:rPr spc="-30" dirty="0"/>
              <a:t>Know</a:t>
            </a:r>
            <a:r>
              <a:rPr spc="20" dirty="0"/>
              <a:t> </a:t>
            </a:r>
            <a:r>
              <a:rPr spc="-5" dirty="0"/>
              <a:t>/ </a:t>
            </a:r>
            <a:r>
              <a:rPr spc="-40" dirty="0"/>
              <a:t>Pay</a:t>
            </a:r>
            <a:r>
              <a:rPr spc="-20" dirty="0"/>
              <a:t> </a:t>
            </a:r>
            <a:r>
              <a:rPr spc="-65" dirty="0"/>
              <a:t>Your</a:t>
            </a:r>
            <a:r>
              <a:rPr spc="-5" dirty="0"/>
              <a:t> </a:t>
            </a:r>
            <a:r>
              <a:rPr spc="-75" dirty="0"/>
              <a:t>Taxes</a:t>
            </a:r>
          </a:p>
          <a:p>
            <a:pPr marL="1231900">
              <a:lnSpc>
                <a:spcPts val="2765"/>
              </a:lnSpc>
            </a:pPr>
            <a:r>
              <a:rPr sz="2400" spc="-360" dirty="0">
                <a:latin typeface="Nirmala UI Semilight"/>
                <a:cs typeface="Nirmala UI Semilight"/>
              </a:rPr>
              <a:t>आपले</a:t>
            </a:r>
            <a:r>
              <a:rPr sz="2400" spc="-110" dirty="0">
                <a:latin typeface="Nirmala UI Semilight"/>
                <a:cs typeface="Nirmala UI Semilight"/>
              </a:rPr>
              <a:t> </a:t>
            </a:r>
            <a:r>
              <a:rPr sz="2400" spc="-590" dirty="0">
                <a:latin typeface="Nirmala UI Semilight"/>
                <a:cs typeface="Nirmala UI Semilight"/>
              </a:rPr>
              <a:t>कर</a:t>
            </a:r>
            <a:r>
              <a:rPr sz="2400" spc="-465" dirty="0">
                <a:latin typeface="Nirmala UI Semilight"/>
                <a:cs typeface="Nirmala UI Semilight"/>
              </a:rPr>
              <a:t> </a:t>
            </a:r>
            <a:r>
              <a:rPr sz="2400" spc="-515" dirty="0">
                <a:latin typeface="Nirmala UI Semilight"/>
                <a:cs typeface="Nirmala UI Semilight"/>
              </a:rPr>
              <a:t>देय</a:t>
            </a:r>
            <a:r>
              <a:rPr sz="2400" spc="-135" dirty="0">
                <a:latin typeface="Nirmala UI Semilight"/>
                <a:cs typeface="Nirmala UI Semilight"/>
              </a:rPr>
              <a:t> </a:t>
            </a:r>
            <a:r>
              <a:rPr sz="2400" spc="-375" dirty="0">
                <a:latin typeface="Nirmala UI Semilight"/>
                <a:cs typeface="Nirmala UI Semilight"/>
              </a:rPr>
              <a:t>पहा</a:t>
            </a:r>
            <a:r>
              <a:rPr sz="2400" spc="-114" dirty="0">
                <a:latin typeface="Nirmala UI Semilight"/>
                <a:cs typeface="Nirmala UI Semilight"/>
              </a:rPr>
              <a:t> </a:t>
            </a:r>
            <a:r>
              <a:rPr sz="2400" spc="-415" dirty="0">
                <a:latin typeface="Nirmala UI Semilight"/>
                <a:cs typeface="Nirmala UI Semilight"/>
              </a:rPr>
              <a:t>आिण</a:t>
            </a:r>
            <a:r>
              <a:rPr sz="2400" spc="-110" dirty="0">
                <a:latin typeface="Nirmala UI Semilight"/>
                <a:cs typeface="Nirmala UI Semilight"/>
              </a:rPr>
              <a:t> </a:t>
            </a:r>
            <a:r>
              <a:rPr sz="2400" spc="-370" dirty="0">
                <a:latin typeface="Nirmala UI Semilight"/>
                <a:cs typeface="Nirmala UI Semilight"/>
              </a:rPr>
              <a:t>भरा</a:t>
            </a:r>
            <a:endParaRPr sz="2400">
              <a:latin typeface="Nirmala UI Semilight"/>
              <a:cs typeface="Nirmala UI Semilight"/>
            </a:endParaRPr>
          </a:p>
        </p:txBody>
      </p:sp>
      <p:pic>
        <p:nvPicPr>
          <p:cNvPr id="12" name="object 2">
            <a:extLst>
              <a:ext uri="{FF2B5EF4-FFF2-40B4-BE49-F238E27FC236}">
                <a16:creationId xmlns:a16="http://schemas.microsoft.com/office/drawing/2014/main" xmlns="" id="{F9BB9E94-6CA0-6B30-D54D-D9C110000FB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586450"/>
            <a:ext cx="9144000" cy="6172200"/>
          </a:xfrm>
          <a:prstGeom prst="rect">
            <a:avLst/>
          </a:prstGeom>
        </p:spPr>
      </p:pic>
      <p:sp>
        <p:nvSpPr>
          <p:cNvPr id="14" name="object 3">
            <a:extLst>
              <a:ext uri="{FF2B5EF4-FFF2-40B4-BE49-F238E27FC236}">
                <a16:creationId xmlns:a16="http://schemas.microsoft.com/office/drawing/2014/main" xmlns="" id="{82984255-3E2A-5C78-C541-1D062D38387B}"/>
              </a:ext>
            </a:extLst>
          </p:cNvPr>
          <p:cNvSpPr txBox="1">
            <a:spLocks/>
          </p:cNvSpPr>
          <p:nvPr/>
        </p:nvSpPr>
        <p:spPr>
          <a:xfrm>
            <a:off x="4863592" y="821388"/>
            <a:ext cx="4737608" cy="50398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>
            <a:lvl1pPr>
              <a:defRPr sz="3200" b="0" i="0">
                <a:solidFill>
                  <a:schemeClr val="bg1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spcBef>
                <a:spcPts val="90"/>
              </a:spcBef>
            </a:pPr>
            <a:r>
              <a:rPr lang="en-IN" kern="0" spc="-5" dirty="0"/>
              <a:t>  </a:t>
            </a:r>
            <a:endParaRPr lang="en-IN" kern="0" spc="-10" dirty="0"/>
          </a:p>
        </p:txBody>
      </p:sp>
      <p:pic>
        <p:nvPicPr>
          <p:cNvPr id="3080" name="Picture 8" descr="C:\Users\dell\Desktop\Mobil Screen shot\WhatsApp Image 2022-07-29 at 3.32.28 PM.jpe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243646" y="1885936"/>
            <a:ext cx="3286148" cy="5715040"/>
          </a:xfrm>
          <a:prstGeom prst="rect">
            <a:avLst/>
          </a:prstGeom>
          <a:noFill/>
        </p:spPr>
      </p:pic>
      <p:pic>
        <p:nvPicPr>
          <p:cNvPr id="3086" name="Picture 14" descr="C:\Users\dell\Desktop\Mobil Screen shot\WhatsApp Image 2022-07-29 at 3.32.25 PM.jpe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42854" y="1528746"/>
            <a:ext cx="3429024" cy="6000791"/>
          </a:xfrm>
          <a:prstGeom prst="rect">
            <a:avLst/>
          </a:prstGeom>
          <a:noFill/>
        </p:spPr>
      </p:pic>
      <p:sp>
        <p:nvSpPr>
          <p:cNvPr id="19" name="TextBox 18"/>
          <p:cNvSpPr txBox="1"/>
          <p:nvPr/>
        </p:nvSpPr>
        <p:spPr>
          <a:xfrm>
            <a:off x="3814754" y="3529010"/>
            <a:ext cx="221457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In Media </a:t>
            </a:r>
            <a:r>
              <a:rPr lang="en-US" dirty="0" err="1" smtClean="0"/>
              <a:t>afer</a:t>
            </a:r>
            <a:r>
              <a:rPr lang="en-US" dirty="0" smtClean="0"/>
              <a:t> </a:t>
            </a:r>
            <a:r>
              <a:rPr lang="en-US" dirty="0" err="1" smtClean="0"/>
              <a:t>clickon</a:t>
            </a:r>
            <a:r>
              <a:rPr lang="en-US" dirty="0" smtClean="0"/>
              <a:t> view  image is not shown.pls check.</a:t>
            </a:r>
            <a:endParaRPr lang="en-US" dirty="0"/>
          </a:p>
        </p:txBody>
      </p:sp>
      <p:cxnSp>
        <p:nvCxnSpPr>
          <p:cNvPr id="21" name="Straight Arrow Connector 20"/>
          <p:cNvCxnSpPr/>
          <p:nvPr/>
        </p:nvCxnSpPr>
        <p:spPr>
          <a:xfrm>
            <a:off x="3100374" y="3600448"/>
            <a:ext cx="785818" cy="14287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 flipV="1">
            <a:off x="5815018" y="4243390"/>
            <a:ext cx="2428892" cy="7143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31230086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784596" y="1325372"/>
            <a:ext cx="3670300" cy="84836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ts val="3725"/>
              </a:lnSpc>
              <a:spcBef>
                <a:spcPts val="90"/>
              </a:spcBef>
            </a:pPr>
            <a:r>
              <a:rPr spc="-30" dirty="0"/>
              <a:t>Know</a:t>
            </a:r>
            <a:r>
              <a:rPr spc="20" dirty="0"/>
              <a:t> </a:t>
            </a:r>
            <a:r>
              <a:rPr spc="-5" dirty="0"/>
              <a:t>/ </a:t>
            </a:r>
            <a:r>
              <a:rPr spc="-40" dirty="0"/>
              <a:t>Pay</a:t>
            </a:r>
            <a:r>
              <a:rPr spc="-20" dirty="0"/>
              <a:t> </a:t>
            </a:r>
            <a:r>
              <a:rPr spc="-65" dirty="0"/>
              <a:t>Your</a:t>
            </a:r>
            <a:r>
              <a:rPr spc="-5" dirty="0"/>
              <a:t> </a:t>
            </a:r>
            <a:r>
              <a:rPr spc="-75" dirty="0"/>
              <a:t>Taxes</a:t>
            </a:r>
          </a:p>
          <a:p>
            <a:pPr marL="1231900">
              <a:lnSpc>
                <a:spcPts val="2765"/>
              </a:lnSpc>
            </a:pPr>
            <a:r>
              <a:rPr sz="2400" spc="-360" dirty="0">
                <a:latin typeface="Nirmala UI Semilight"/>
                <a:cs typeface="Nirmala UI Semilight"/>
              </a:rPr>
              <a:t>आपले</a:t>
            </a:r>
            <a:r>
              <a:rPr sz="2400" spc="-110" dirty="0">
                <a:latin typeface="Nirmala UI Semilight"/>
                <a:cs typeface="Nirmala UI Semilight"/>
              </a:rPr>
              <a:t> </a:t>
            </a:r>
            <a:r>
              <a:rPr sz="2400" spc="-590" dirty="0">
                <a:latin typeface="Nirmala UI Semilight"/>
                <a:cs typeface="Nirmala UI Semilight"/>
              </a:rPr>
              <a:t>कर</a:t>
            </a:r>
            <a:r>
              <a:rPr sz="2400" spc="-465" dirty="0">
                <a:latin typeface="Nirmala UI Semilight"/>
                <a:cs typeface="Nirmala UI Semilight"/>
              </a:rPr>
              <a:t> </a:t>
            </a:r>
            <a:r>
              <a:rPr sz="2400" spc="-515" dirty="0">
                <a:latin typeface="Nirmala UI Semilight"/>
                <a:cs typeface="Nirmala UI Semilight"/>
              </a:rPr>
              <a:t>देय</a:t>
            </a:r>
            <a:r>
              <a:rPr sz="2400" spc="-135" dirty="0">
                <a:latin typeface="Nirmala UI Semilight"/>
                <a:cs typeface="Nirmala UI Semilight"/>
              </a:rPr>
              <a:t> </a:t>
            </a:r>
            <a:r>
              <a:rPr sz="2400" spc="-375" dirty="0">
                <a:latin typeface="Nirmala UI Semilight"/>
                <a:cs typeface="Nirmala UI Semilight"/>
              </a:rPr>
              <a:t>पहा</a:t>
            </a:r>
            <a:r>
              <a:rPr sz="2400" spc="-114" dirty="0">
                <a:latin typeface="Nirmala UI Semilight"/>
                <a:cs typeface="Nirmala UI Semilight"/>
              </a:rPr>
              <a:t> </a:t>
            </a:r>
            <a:r>
              <a:rPr sz="2400" spc="-415" dirty="0">
                <a:latin typeface="Nirmala UI Semilight"/>
                <a:cs typeface="Nirmala UI Semilight"/>
              </a:rPr>
              <a:t>आिण</a:t>
            </a:r>
            <a:r>
              <a:rPr sz="2400" spc="-110" dirty="0">
                <a:latin typeface="Nirmala UI Semilight"/>
                <a:cs typeface="Nirmala UI Semilight"/>
              </a:rPr>
              <a:t> </a:t>
            </a:r>
            <a:r>
              <a:rPr sz="2400" spc="-370" dirty="0">
                <a:latin typeface="Nirmala UI Semilight"/>
                <a:cs typeface="Nirmala UI Semilight"/>
              </a:rPr>
              <a:t>भरा</a:t>
            </a:r>
            <a:endParaRPr sz="2400">
              <a:latin typeface="Nirmala UI Semilight"/>
              <a:cs typeface="Nirmala UI Semilight"/>
            </a:endParaRPr>
          </a:p>
        </p:txBody>
      </p:sp>
      <p:pic>
        <p:nvPicPr>
          <p:cNvPr id="12" name="object 2">
            <a:extLst>
              <a:ext uri="{FF2B5EF4-FFF2-40B4-BE49-F238E27FC236}">
                <a16:creationId xmlns:a16="http://schemas.microsoft.com/office/drawing/2014/main" xmlns="" id="{F9BB9E94-6CA0-6B30-D54D-D9C110000FB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8606" y="885804"/>
            <a:ext cx="9144000" cy="6172200"/>
          </a:xfrm>
          <a:prstGeom prst="rect">
            <a:avLst/>
          </a:prstGeom>
        </p:spPr>
      </p:pic>
      <p:sp>
        <p:nvSpPr>
          <p:cNvPr id="14" name="object 3">
            <a:extLst>
              <a:ext uri="{FF2B5EF4-FFF2-40B4-BE49-F238E27FC236}">
                <a16:creationId xmlns:a16="http://schemas.microsoft.com/office/drawing/2014/main" xmlns="" id="{82984255-3E2A-5C78-C541-1D062D38387B}"/>
              </a:ext>
            </a:extLst>
          </p:cNvPr>
          <p:cNvSpPr txBox="1">
            <a:spLocks/>
          </p:cNvSpPr>
          <p:nvPr/>
        </p:nvSpPr>
        <p:spPr>
          <a:xfrm>
            <a:off x="4863592" y="821388"/>
            <a:ext cx="4737608" cy="50398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>
            <a:lvl1pPr>
              <a:defRPr sz="3200" b="0" i="0">
                <a:solidFill>
                  <a:schemeClr val="bg1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spcBef>
                <a:spcPts val="90"/>
              </a:spcBef>
            </a:pPr>
            <a:r>
              <a:rPr lang="en-IN" kern="0" spc="-5" dirty="0"/>
              <a:t>  </a:t>
            </a:r>
            <a:endParaRPr lang="en-IN" kern="0" spc="-10" dirty="0"/>
          </a:p>
        </p:txBody>
      </p:sp>
      <p:pic>
        <p:nvPicPr>
          <p:cNvPr id="3086" name="Picture 14" descr="C:\Users\dell\Desktop\Mobil Screen shot\WhatsApp Image 2022-07-29 at 3.32.25 PM.jpe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42854" y="1528746"/>
            <a:ext cx="3429024" cy="6000791"/>
          </a:xfrm>
          <a:prstGeom prst="rect">
            <a:avLst/>
          </a:prstGeom>
          <a:noFill/>
        </p:spPr>
      </p:pic>
      <p:sp>
        <p:nvSpPr>
          <p:cNvPr id="19" name="TextBox 18"/>
          <p:cNvSpPr txBox="1"/>
          <p:nvPr/>
        </p:nvSpPr>
        <p:spPr>
          <a:xfrm>
            <a:off x="3814754" y="3529010"/>
            <a:ext cx="221457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In </a:t>
            </a:r>
            <a:r>
              <a:rPr lang="en-US" dirty="0" err="1" smtClean="0"/>
              <a:t>whats</a:t>
            </a:r>
            <a:r>
              <a:rPr lang="en-US" dirty="0" smtClean="0"/>
              <a:t> New photo is no attached  text is not displayed in </a:t>
            </a:r>
            <a:r>
              <a:rPr lang="en-US" dirty="0" err="1" smtClean="0"/>
              <a:t>welformat</a:t>
            </a:r>
            <a:r>
              <a:rPr lang="en-US" dirty="0" smtClean="0"/>
              <a:t>.</a:t>
            </a:r>
            <a:endParaRPr lang="en-US" dirty="0"/>
          </a:p>
        </p:txBody>
      </p:sp>
      <p:cxnSp>
        <p:nvCxnSpPr>
          <p:cNvPr id="21" name="Straight Arrow Connector 20"/>
          <p:cNvCxnSpPr/>
          <p:nvPr/>
        </p:nvCxnSpPr>
        <p:spPr>
          <a:xfrm>
            <a:off x="3100374" y="3243258"/>
            <a:ext cx="785818" cy="50006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98" name="Picture 2" descr="C:\Users\dell\Desktop\Mobil Screen shot\WhatsApp Image 2022-07-29 at 3.32.26 PM.jpe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957894" y="1814497"/>
            <a:ext cx="3643338" cy="5715041"/>
          </a:xfrm>
          <a:prstGeom prst="rect">
            <a:avLst/>
          </a:prstGeom>
          <a:noFill/>
        </p:spPr>
      </p:pic>
      <p:cxnSp>
        <p:nvCxnSpPr>
          <p:cNvPr id="15" name="Straight Arrow Connector 14"/>
          <p:cNvCxnSpPr/>
          <p:nvPr/>
        </p:nvCxnSpPr>
        <p:spPr>
          <a:xfrm>
            <a:off x="5386390" y="3457572"/>
            <a:ext cx="1143008" cy="21431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31230086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784596" y="1325372"/>
            <a:ext cx="3670300" cy="84836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ts val="3725"/>
              </a:lnSpc>
              <a:spcBef>
                <a:spcPts val="90"/>
              </a:spcBef>
            </a:pPr>
            <a:r>
              <a:rPr spc="-30" dirty="0"/>
              <a:t>Know</a:t>
            </a:r>
            <a:r>
              <a:rPr spc="20" dirty="0"/>
              <a:t> </a:t>
            </a:r>
            <a:r>
              <a:rPr spc="-5" dirty="0"/>
              <a:t>/ </a:t>
            </a:r>
            <a:r>
              <a:rPr spc="-40" dirty="0"/>
              <a:t>Pay</a:t>
            </a:r>
            <a:r>
              <a:rPr spc="-20" dirty="0"/>
              <a:t> </a:t>
            </a:r>
            <a:r>
              <a:rPr spc="-65" dirty="0"/>
              <a:t>Your</a:t>
            </a:r>
            <a:r>
              <a:rPr spc="-5" dirty="0"/>
              <a:t> </a:t>
            </a:r>
            <a:r>
              <a:rPr spc="-75" dirty="0"/>
              <a:t>Taxes</a:t>
            </a:r>
          </a:p>
          <a:p>
            <a:pPr marL="1231900">
              <a:lnSpc>
                <a:spcPts val="2765"/>
              </a:lnSpc>
            </a:pPr>
            <a:r>
              <a:rPr sz="2400" spc="-360" dirty="0">
                <a:latin typeface="Nirmala UI Semilight"/>
                <a:cs typeface="Nirmala UI Semilight"/>
              </a:rPr>
              <a:t>आपले</a:t>
            </a:r>
            <a:r>
              <a:rPr sz="2400" spc="-110" dirty="0">
                <a:latin typeface="Nirmala UI Semilight"/>
                <a:cs typeface="Nirmala UI Semilight"/>
              </a:rPr>
              <a:t> </a:t>
            </a:r>
            <a:r>
              <a:rPr sz="2400" spc="-590" dirty="0">
                <a:latin typeface="Nirmala UI Semilight"/>
                <a:cs typeface="Nirmala UI Semilight"/>
              </a:rPr>
              <a:t>कर</a:t>
            </a:r>
            <a:r>
              <a:rPr sz="2400" spc="-465" dirty="0">
                <a:latin typeface="Nirmala UI Semilight"/>
                <a:cs typeface="Nirmala UI Semilight"/>
              </a:rPr>
              <a:t> </a:t>
            </a:r>
            <a:r>
              <a:rPr sz="2400" spc="-515" dirty="0">
                <a:latin typeface="Nirmala UI Semilight"/>
                <a:cs typeface="Nirmala UI Semilight"/>
              </a:rPr>
              <a:t>देय</a:t>
            </a:r>
            <a:r>
              <a:rPr sz="2400" spc="-135" dirty="0">
                <a:latin typeface="Nirmala UI Semilight"/>
                <a:cs typeface="Nirmala UI Semilight"/>
              </a:rPr>
              <a:t> </a:t>
            </a:r>
            <a:r>
              <a:rPr sz="2400" spc="-375" dirty="0">
                <a:latin typeface="Nirmala UI Semilight"/>
                <a:cs typeface="Nirmala UI Semilight"/>
              </a:rPr>
              <a:t>पहा</a:t>
            </a:r>
            <a:r>
              <a:rPr sz="2400" spc="-114" dirty="0">
                <a:latin typeface="Nirmala UI Semilight"/>
                <a:cs typeface="Nirmala UI Semilight"/>
              </a:rPr>
              <a:t> </a:t>
            </a:r>
            <a:r>
              <a:rPr sz="2400" spc="-415" dirty="0">
                <a:latin typeface="Nirmala UI Semilight"/>
                <a:cs typeface="Nirmala UI Semilight"/>
              </a:rPr>
              <a:t>आिण</a:t>
            </a:r>
            <a:r>
              <a:rPr sz="2400" spc="-110" dirty="0">
                <a:latin typeface="Nirmala UI Semilight"/>
                <a:cs typeface="Nirmala UI Semilight"/>
              </a:rPr>
              <a:t> </a:t>
            </a:r>
            <a:r>
              <a:rPr sz="2400" spc="-370" dirty="0">
                <a:latin typeface="Nirmala UI Semilight"/>
                <a:cs typeface="Nirmala UI Semilight"/>
              </a:rPr>
              <a:t>भरा</a:t>
            </a:r>
            <a:endParaRPr sz="2400">
              <a:latin typeface="Nirmala UI Semilight"/>
              <a:cs typeface="Nirmala UI Semilight"/>
            </a:endParaRPr>
          </a:p>
        </p:txBody>
      </p:sp>
      <p:pic>
        <p:nvPicPr>
          <p:cNvPr id="12" name="object 2">
            <a:extLst>
              <a:ext uri="{FF2B5EF4-FFF2-40B4-BE49-F238E27FC236}">
                <a16:creationId xmlns:a16="http://schemas.microsoft.com/office/drawing/2014/main" xmlns="" id="{F9BB9E94-6CA0-6B30-D54D-D9C110000FB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168" y="1100118"/>
            <a:ext cx="9144000" cy="6172200"/>
          </a:xfrm>
          <a:prstGeom prst="rect">
            <a:avLst/>
          </a:prstGeom>
        </p:spPr>
      </p:pic>
      <p:sp>
        <p:nvSpPr>
          <p:cNvPr id="14" name="object 3">
            <a:extLst>
              <a:ext uri="{FF2B5EF4-FFF2-40B4-BE49-F238E27FC236}">
                <a16:creationId xmlns:a16="http://schemas.microsoft.com/office/drawing/2014/main" xmlns="" id="{82984255-3E2A-5C78-C541-1D062D38387B}"/>
              </a:ext>
            </a:extLst>
          </p:cNvPr>
          <p:cNvSpPr txBox="1">
            <a:spLocks/>
          </p:cNvSpPr>
          <p:nvPr/>
        </p:nvSpPr>
        <p:spPr>
          <a:xfrm>
            <a:off x="4863592" y="821388"/>
            <a:ext cx="4737608" cy="50398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>
            <a:lvl1pPr>
              <a:defRPr sz="3200" b="0" i="0">
                <a:solidFill>
                  <a:schemeClr val="bg1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spcBef>
                <a:spcPts val="90"/>
              </a:spcBef>
            </a:pPr>
            <a:r>
              <a:rPr lang="en-IN" kern="0" spc="-5" dirty="0"/>
              <a:t>  </a:t>
            </a:r>
            <a:endParaRPr lang="en-IN" kern="0" spc="-10" dirty="0"/>
          </a:p>
        </p:txBody>
      </p:sp>
      <p:pic>
        <p:nvPicPr>
          <p:cNvPr id="3086" name="Picture 14" descr="C:\Users\dell\Desktop\Mobil Screen shot\WhatsApp Image 2022-07-29 at 3.32.25 PM.jpe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42854" y="1528746"/>
            <a:ext cx="3429024" cy="6000791"/>
          </a:xfrm>
          <a:prstGeom prst="rect">
            <a:avLst/>
          </a:prstGeom>
          <a:noFill/>
        </p:spPr>
      </p:pic>
      <p:sp>
        <p:nvSpPr>
          <p:cNvPr id="19" name="TextBox 18"/>
          <p:cNvSpPr txBox="1"/>
          <p:nvPr/>
        </p:nvSpPr>
        <p:spPr>
          <a:xfrm>
            <a:off x="3814754" y="3529010"/>
            <a:ext cx="22145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There should be mass popup  notification. </a:t>
            </a:r>
            <a:endParaRPr lang="en-US" dirty="0"/>
          </a:p>
        </p:txBody>
      </p:sp>
      <p:cxnSp>
        <p:nvCxnSpPr>
          <p:cNvPr id="21" name="Straight Arrow Connector 20"/>
          <p:cNvCxnSpPr/>
          <p:nvPr/>
        </p:nvCxnSpPr>
        <p:spPr>
          <a:xfrm flipV="1">
            <a:off x="2886060" y="3743324"/>
            <a:ext cx="1000132" cy="42862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22" name="Picture 2" descr="C:\Users\dell\Desktop\Mobil Screen shot\WhatsApp Image 2022-07-29 at 3.32.27 PM.jpe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100770" y="1814498"/>
            <a:ext cx="3714740" cy="595790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31230086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784596" y="1325372"/>
            <a:ext cx="3670300" cy="84836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ts val="3725"/>
              </a:lnSpc>
              <a:spcBef>
                <a:spcPts val="90"/>
              </a:spcBef>
            </a:pPr>
            <a:r>
              <a:rPr spc="-30" dirty="0"/>
              <a:t>Know</a:t>
            </a:r>
            <a:r>
              <a:rPr spc="20" dirty="0"/>
              <a:t> </a:t>
            </a:r>
            <a:r>
              <a:rPr spc="-5" dirty="0"/>
              <a:t>/ </a:t>
            </a:r>
            <a:r>
              <a:rPr spc="-40" dirty="0"/>
              <a:t>Pay</a:t>
            </a:r>
            <a:r>
              <a:rPr spc="-20" dirty="0"/>
              <a:t> </a:t>
            </a:r>
            <a:r>
              <a:rPr spc="-65" dirty="0"/>
              <a:t>Your</a:t>
            </a:r>
            <a:r>
              <a:rPr spc="-5" dirty="0"/>
              <a:t> </a:t>
            </a:r>
            <a:r>
              <a:rPr spc="-75" dirty="0"/>
              <a:t>Taxes</a:t>
            </a:r>
          </a:p>
          <a:p>
            <a:pPr marL="1231900">
              <a:lnSpc>
                <a:spcPts val="2765"/>
              </a:lnSpc>
            </a:pPr>
            <a:r>
              <a:rPr sz="2400" spc="-360" dirty="0">
                <a:latin typeface="Nirmala UI Semilight"/>
                <a:cs typeface="Nirmala UI Semilight"/>
              </a:rPr>
              <a:t>आपले</a:t>
            </a:r>
            <a:r>
              <a:rPr sz="2400" spc="-110" dirty="0">
                <a:latin typeface="Nirmala UI Semilight"/>
                <a:cs typeface="Nirmala UI Semilight"/>
              </a:rPr>
              <a:t> </a:t>
            </a:r>
            <a:r>
              <a:rPr sz="2400" spc="-590" dirty="0">
                <a:latin typeface="Nirmala UI Semilight"/>
                <a:cs typeface="Nirmala UI Semilight"/>
              </a:rPr>
              <a:t>कर</a:t>
            </a:r>
            <a:r>
              <a:rPr sz="2400" spc="-465" dirty="0">
                <a:latin typeface="Nirmala UI Semilight"/>
                <a:cs typeface="Nirmala UI Semilight"/>
              </a:rPr>
              <a:t> </a:t>
            </a:r>
            <a:r>
              <a:rPr sz="2400" spc="-515" dirty="0">
                <a:latin typeface="Nirmala UI Semilight"/>
                <a:cs typeface="Nirmala UI Semilight"/>
              </a:rPr>
              <a:t>देय</a:t>
            </a:r>
            <a:r>
              <a:rPr sz="2400" spc="-135" dirty="0">
                <a:latin typeface="Nirmala UI Semilight"/>
                <a:cs typeface="Nirmala UI Semilight"/>
              </a:rPr>
              <a:t> </a:t>
            </a:r>
            <a:r>
              <a:rPr sz="2400" spc="-375" dirty="0">
                <a:latin typeface="Nirmala UI Semilight"/>
                <a:cs typeface="Nirmala UI Semilight"/>
              </a:rPr>
              <a:t>पहा</a:t>
            </a:r>
            <a:r>
              <a:rPr sz="2400" spc="-114" dirty="0">
                <a:latin typeface="Nirmala UI Semilight"/>
                <a:cs typeface="Nirmala UI Semilight"/>
              </a:rPr>
              <a:t> </a:t>
            </a:r>
            <a:r>
              <a:rPr sz="2400" spc="-415" dirty="0">
                <a:latin typeface="Nirmala UI Semilight"/>
                <a:cs typeface="Nirmala UI Semilight"/>
              </a:rPr>
              <a:t>आिण</a:t>
            </a:r>
            <a:r>
              <a:rPr sz="2400" spc="-110" dirty="0">
                <a:latin typeface="Nirmala UI Semilight"/>
                <a:cs typeface="Nirmala UI Semilight"/>
              </a:rPr>
              <a:t> </a:t>
            </a:r>
            <a:r>
              <a:rPr sz="2400" spc="-370" dirty="0">
                <a:latin typeface="Nirmala UI Semilight"/>
                <a:cs typeface="Nirmala UI Semilight"/>
              </a:rPr>
              <a:t>भरा</a:t>
            </a:r>
            <a:endParaRPr sz="2400">
              <a:latin typeface="Nirmala UI Semilight"/>
              <a:cs typeface="Nirmala UI Semilight"/>
            </a:endParaRPr>
          </a:p>
        </p:txBody>
      </p:sp>
      <p:pic>
        <p:nvPicPr>
          <p:cNvPr id="12" name="object 2">
            <a:extLst>
              <a:ext uri="{FF2B5EF4-FFF2-40B4-BE49-F238E27FC236}">
                <a16:creationId xmlns:a16="http://schemas.microsoft.com/office/drawing/2014/main" xmlns="" id="{F9BB9E94-6CA0-6B30-D54D-D9C110000FB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168" y="1100118"/>
            <a:ext cx="9144000" cy="6172200"/>
          </a:xfrm>
          <a:prstGeom prst="rect">
            <a:avLst/>
          </a:prstGeom>
        </p:spPr>
      </p:pic>
      <p:sp>
        <p:nvSpPr>
          <p:cNvPr id="14" name="object 3">
            <a:extLst>
              <a:ext uri="{FF2B5EF4-FFF2-40B4-BE49-F238E27FC236}">
                <a16:creationId xmlns:a16="http://schemas.microsoft.com/office/drawing/2014/main" xmlns="" id="{82984255-3E2A-5C78-C541-1D062D38387B}"/>
              </a:ext>
            </a:extLst>
          </p:cNvPr>
          <p:cNvSpPr txBox="1">
            <a:spLocks/>
          </p:cNvSpPr>
          <p:nvPr/>
        </p:nvSpPr>
        <p:spPr>
          <a:xfrm>
            <a:off x="4863592" y="821388"/>
            <a:ext cx="4737608" cy="50398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>
            <a:lvl1pPr>
              <a:defRPr sz="3200" b="0" i="0">
                <a:solidFill>
                  <a:schemeClr val="bg1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spcBef>
                <a:spcPts val="90"/>
              </a:spcBef>
            </a:pPr>
            <a:r>
              <a:rPr lang="en-IN" kern="0" spc="-5" dirty="0"/>
              <a:t>  </a:t>
            </a:r>
            <a:endParaRPr lang="en-IN" kern="0" spc="-10" dirty="0"/>
          </a:p>
        </p:txBody>
      </p:sp>
      <p:sp>
        <p:nvSpPr>
          <p:cNvPr id="19" name="TextBox 18"/>
          <p:cNvSpPr txBox="1"/>
          <p:nvPr/>
        </p:nvSpPr>
        <p:spPr>
          <a:xfrm>
            <a:off x="3814754" y="3529010"/>
            <a:ext cx="221457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In List of  officer  there should be drop down to select  designation according to designation  employee will populate.</a:t>
            </a:r>
            <a:endParaRPr lang="en-US" dirty="0"/>
          </a:p>
        </p:txBody>
      </p:sp>
      <p:cxnSp>
        <p:nvCxnSpPr>
          <p:cNvPr id="21" name="Straight Arrow Connector 20"/>
          <p:cNvCxnSpPr/>
          <p:nvPr/>
        </p:nvCxnSpPr>
        <p:spPr>
          <a:xfrm flipV="1">
            <a:off x="2886060" y="3743324"/>
            <a:ext cx="1000132" cy="42862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22" name="Picture 2" descr="C:\Users\dell\Desktop\Mobil Screen shot\WhatsApp Image 2022-07-29 at 3.32.27 PM.jpe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100770" y="1814498"/>
            <a:ext cx="3714740" cy="5957902"/>
          </a:xfrm>
          <a:prstGeom prst="rect">
            <a:avLst/>
          </a:prstGeom>
          <a:noFill/>
        </p:spPr>
      </p:pic>
      <p:pic>
        <p:nvPicPr>
          <p:cNvPr id="6146" name="Picture 2" descr="C:\Users\dell\Desktop\Mobil Screen shot\WhatsApp Image 2022-07-29 at 3.32.26 PM (1).jpe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42854" y="1743060"/>
            <a:ext cx="3500462" cy="5686493"/>
          </a:xfrm>
          <a:prstGeom prst="rect">
            <a:avLst/>
          </a:prstGeom>
          <a:noFill/>
        </p:spPr>
      </p:pic>
      <p:cxnSp>
        <p:nvCxnSpPr>
          <p:cNvPr id="11" name="Straight Arrow Connector 10"/>
          <p:cNvCxnSpPr/>
          <p:nvPr/>
        </p:nvCxnSpPr>
        <p:spPr>
          <a:xfrm>
            <a:off x="2886060" y="3671886"/>
            <a:ext cx="1214446" cy="21431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029068" y="6172216"/>
            <a:ext cx="11430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Remove other  representation </a:t>
            </a:r>
            <a:endParaRPr lang="en-US" dirty="0"/>
          </a:p>
        </p:txBody>
      </p:sp>
      <p:cxnSp>
        <p:nvCxnSpPr>
          <p:cNvPr id="16" name="Straight Arrow Connector 15"/>
          <p:cNvCxnSpPr/>
          <p:nvPr/>
        </p:nvCxnSpPr>
        <p:spPr>
          <a:xfrm rot="16200000" flipH="1">
            <a:off x="2636027" y="4850613"/>
            <a:ext cx="1785950" cy="100013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31230086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784596" y="1325372"/>
            <a:ext cx="3670300" cy="84836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ts val="3725"/>
              </a:lnSpc>
              <a:spcBef>
                <a:spcPts val="90"/>
              </a:spcBef>
            </a:pPr>
            <a:r>
              <a:rPr spc="-30" dirty="0"/>
              <a:t>Know</a:t>
            </a:r>
            <a:r>
              <a:rPr spc="20" dirty="0"/>
              <a:t> </a:t>
            </a:r>
            <a:r>
              <a:rPr spc="-5" dirty="0"/>
              <a:t>/ </a:t>
            </a:r>
            <a:r>
              <a:rPr spc="-40" dirty="0"/>
              <a:t>Pay</a:t>
            </a:r>
            <a:r>
              <a:rPr spc="-20" dirty="0"/>
              <a:t> </a:t>
            </a:r>
            <a:r>
              <a:rPr spc="-65" dirty="0"/>
              <a:t>Your</a:t>
            </a:r>
            <a:r>
              <a:rPr spc="-5" dirty="0"/>
              <a:t> </a:t>
            </a:r>
            <a:r>
              <a:rPr spc="-75" dirty="0"/>
              <a:t>Taxes</a:t>
            </a:r>
          </a:p>
          <a:p>
            <a:pPr marL="1231900">
              <a:lnSpc>
                <a:spcPts val="2765"/>
              </a:lnSpc>
            </a:pPr>
            <a:r>
              <a:rPr sz="2400" spc="-360" dirty="0">
                <a:latin typeface="Nirmala UI Semilight"/>
                <a:cs typeface="Nirmala UI Semilight"/>
              </a:rPr>
              <a:t>आपले</a:t>
            </a:r>
            <a:r>
              <a:rPr sz="2400" spc="-110" dirty="0">
                <a:latin typeface="Nirmala UI Semilight"/>
                <a:cs typeface="Nirmala UI Semilight"/>
              </a:rPr>
              <a:t> </a:t>
            </a:r>
            <a:r>
              <a:rPr sz="2400" spc="-590" dirty="0">
                <a:latin typeface="Nirmala UI Semilight"/>
                <a:cs typeface="Nirmala UI Semilight"/>
              </a:rPr>
              <a:t>कर</a:t>
            </a:r>
            <a:r>
              <a:rPr sz="2400" spc="-465" dirty="0">
                <a:latin typeface="Nirmala UI Semilight"/>
                <a:cs typeface="Nirmala UI Semilight"/>
              </a:rPr>
              <a:t> </a:t>
            </a:r>
            <a:r>
              <a:rPr sz="2400" spc="-515" dirty="0">
                <a:latin typeface="Nirmala UI Semilight"/>
                <a:cs typeface="Nirmala UI Semilight"/>
              </a:rPr>
              <a:t>देय</a:t>
            </a:r>
            <a:r>
              <a:rPr sz="2400" spc="-135" dirty="0">
                <a:latin typeface="Nirmala UI Semilight"/>
                <a:cs typeface="Nirmala UI Semilight"/>
              </a:rPr>
              <a:t> </a:t>
            </a:r>
            <a:r>
              <a:rPr sz="2400" spc="-375" dirty="0">
                <a:latin typeface="Nirmala UI Semilight"/>
                <a:cs typeface="Nirmala UI Semilight"/>
              </a:rPr>
              <a:t>पहा</a:t>
            </a:r>
            <a:r>
              <a:rPr sz="2400" spc="-114" dirty="0">
                <a:latin typeface="Nirmala UI Semilight"/>
                <a:cs typeface="Nirmala UI Semilight"/>
              </a:rPr>
              <a:t> </a:t>
            </a:r>
            <a:r>
              <a:rPr sz="2400" spc="-415" dirty="0">
                <a:latin typeface="Nirmala UI Semilight"/>
                <a:cs typeface="Nirmala UI Semilight"/>
              </a:rPr>
              <a:t>आिण</a:t>
            </a:r>
            <a:r>
              <a:rPr sz="2400" spc="-110" dirty="0">
                <a:latin typeface="Nirmala UI Semilight"/>
                <a:cs typeface="Nirmala UI Semilight"/>
              </a:rPr>
              <a:t> </a:t>
            </a:r>
            <a:r>
              <a:rPr sz="2400" spc="-370" dirty="0">
                <a:latin typeface="Nirmala UI Semilight"/>
                <a:cs typeface="Nirmala UI Semilight"/>
              </a:rPr>
              <a:t>भरा</a:t>
            </a:r>
            <a:endParaRPr sz="2400">
              <a:latin typeface="Nirmala UI Semilight"/>
              <a:cs typeface="Nirmala UI Semilight"/>
            </a:endParaRPr>
          </a:p>
        </p:txBody>
      </p:sp>
      <p:pic>
        <p:nvPicPr>
          <p:cNvPr id="12" name="object 2">
            <a:extLst>
              <a:ext uri="{FF2B5EF4-FFF2-40B4-BE49-F238E27FC236}">
                <a16:creationId xmlns:a16="http://schemas.microsoft.com/office/drawing/2014/main" xmlns="" id="{F9BB9E94-6CA0-6B30-D54D-D9C110000FB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168" y="1100118"/>
            <a:ext cx="9144000" cy="6172200"/>
          </a:xfrm>
          <a:prstGeom prst="rect">
            <a:avLst/>
          </a:prstGeom>
        </p:spPr>
      </p:pic>
      <p:sp>
        <p:nvSpPr>
          <p:cNvPr id="14" name="object 3">
            <a:extLst>
              <a:ext uri="{FF2B5EF4-FFF2-40B4-BE49-F238E27FC236}">
                <a16:creationId xmlns:a16="http://schemas.microsoft.com/office/drawing/2014/main" xmlns="" id="{82984255-3E2A-5C78-C541-1D062D38387B}"/>
              </a:ext>
            </a:extLst>
          </p:cNvPr>
          <p:cNvSpPr txBox="1">
            <a:spLocks/>
          </p:cNvSpPr>
          <p:nvPr/>
        </p:nvSpPr>
        <p:spPr>
          <a:xfrm>
            <a:off x="4863592" y="821388"/>
            <a:ext cx="4737608" cy="50398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>
            <a:lvl1pPr>
              <a:defRPr sz="3200" b="0" i="0">
                <a:solidFill>
                  <a:schemeClr val="bg1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spcBef>
                <a:spcPts val="90"/>
              </a:spcBef>
            </a:pPr>
            <a:r>
              <a:rPr lang="en-IN" kern="0" spc="-5" dirty="0"/>
              <a:t>  </a:t>
            </a:r>
            <a:endParaRPr lang="en-IN" kern="0" spc="-10" dirty="0"/>
          </a:p>
        </p:txBody>
      </p:sp>
      <p:sp>
        <p:nvSpPr>
          <p:cNvPr id="19" name="TextBox 18"/>
          <p:cNvSpPr txBox="1"/>
          <p:nvPr/>
        </p:nvSpPr>
        <p:spPr>
          <a:xfrm>
            <a:off x="3814754" y="3529010"/>
            <a:ext cx="22145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Address in table format</a:t>
            </a:r>
            <a:endParaRPr lang="en-US" dirty="0"/>
          </a:p>
        </p:txBody>
      </p:sp>
      <p:cxnSp>
        <p:nvCxnSpPr>
          <p:cNvPr id="21" name="Straight Arrow Connector 20"/>
          <p:cNvCxnSpPr/>
          <p:nvPr/>
        </p:nvCxnSpPr>
        <p:spPr>
          <a:xfrm flipV="1">
            <a:off x="2886060" y="3743324"/>
            <a:ext cx="1000132" cy="42862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146" name="Picture 2" descr="C:\Users\dell\Desktop\Mobil Screen shot\WhatsApp Image 2022-07-29 at 3.32.26 PM (1).jpe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71416" y="1743060"/>
            <a:ext cx="3500462" cy="5686493"/>
          </a:xfrm>
          <a:prstGeom prst="rect">
            <a:avLst/>
          </a:prstGeom>
          <a:noFill/>
        </p:spPr>
      </p:pic>
      <p:pic>
        <p:nvPicPr>
          <p:cNvPr id="7170" name="Picture 2" descr="C:\Users\dell\Desktop\Mobil Screen shot\WhatsApp Image 2022-07-29 at 3.32.30 PM.jpe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172208" y="1814498"/>
            <a:ext cx="3500462" cy="6143668"/>
          </a:xfrm>
          <a:prstGeom prst="rect">
            <a:avLst/>
          </a:prstGeom>
          <a:noFill/>
        </p:spPr>
      </p:pic>
      <p:cxnSp>
        <p:nvCxnSpPr>
          <p:cNvPr id="17" name="Straight Arrow Connector 16"/>
          <p:cNvCxnSpPr/>
          <p:nvPr/>
        </p:nvCxnSpPr>
        <p:spPr>
          <a:xfrm flipV="1">
            <a:off x="3100374" y="4171952"/>
            <a:ext cx="1214446" cy="64294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31230086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784596" y="1325372"/>
            <a:ext cx="3670300" cy="84836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ts val="3725"/>
              </a:lnSpc>
              <a:spcBef>
                <a:spcPts val="90"/>
              </a:spcBef>
            </a:pPr>
            <a:r>
              <a:rPr spc="-30" dirty="0"/>
              <a:t>Know</a:t>
            </a:r>
            <a:r>
              <a:rPr spc="20" dirty="0"/>
              <a:t> </a:t>
            </a:r>
            <a:r>
              <a:rPr spc="-5" dirty="0"/>
              <a:t>/ </a:t>
            </a:r>
            <a:r>
              <a:rPr spc="-40" dirty="0"/>
              <a:t>Pay</a:t>
            </a:r>
            <a:r>
              <a:rPr spc="-20" dirty="0"/>
              <a:t> </a:t>
            </a:r>
            <a:r>
              <a:rPr spc="-65" dirty="0"/>
              <a:t>Your</a:t>
            </a:r>
            <a:r>
              <a:rPr spc="-5" dirty="0"/>
              <a:t> </a:t>
            </a:r>
            <a:r>
              <a:rPr spc="-75" dirty="0"/>
              <a:t>Taxes</a:t>
            </a:r>
          </a:p>
          <a:p>
            <a:pPr marL="1231900">
              <a:lnSpc>
                <a:spcPts val="2765"/>
              </a:lnSpc>
            </a:pPr>
            <a:r>
              <a:rPr sz="2400" spc="-360" dirty="0">
                <a:latin typeface="Nirmala UI Semilight"/>
                <a:cs typeface="Nirmala UI Semilight"/>
              </a:rPr>
              <a:t>आपले</a:t>
            </a:r>
            <a:r>
              <a:rPr sz="2400" spc="-110" dirty="0">
                <a:latin typeface="Nirmala UI Semilight"/>
                <a:cs typeface="Nirmala UI Semilight"/>
              </a:rPr>
              <a:t> </a:t>
            </a:r>
            <a:r>
              <a:rPr sz="2400" spc="-590" dirty="0">
                <a:latin typeface="Nirmala UI Semilight"/>
                <a:cs typeface="Nirmala UI Semilight"/>
              </a:rPr>
              <a:t>कर</a:t>
            </a:r>
            <a:r>
              <a:rPr sz="2400" spc="-465" dirty="0">
                <a:latin typeface="Nirmala UI Semilight"/>
                <a:cs typeface="Nirmala UI Semilight"/>
              </a:rPr>
              <a:t> </a:t>
            </a:r>
            <a:r>
              <a:rPr sz="2400" spc="-515" dirty="0">
                <a:latin typeface="Nirmala UI Semilight"/>
                <a:cs typeface="Nirmala UI Semilight"/>
              </a:rPr>
              <a:t>देय</a:t>
            </a:r>
            <a:r>
              <a:rPr sz="2400" spc="-135" dirty="0">
                <a:latin typeface="Nirmala UI Semilight"/>
                <a:cs typeface="Nirmala UI Semilight"/>
              </a:rPr>
              <a:t> </a:t>
            </a:r>
            <a:r>
              <a:rPr sz="2400" spc="-375" dirty="0">
                <a:latin typeface="Nirmala UI Semilight"/>
                <a:cs typeface="Nirmala UI Semilight"/>
              </a:rPr>
              <a:t>पहा</a:t>
            </a:r>
            <a:r>
              <a:rPr sz="2400" spc="-114" dirty="0">
                <a:latin typeface="Nirmala UI Semilight"/>
                <a:cs typeface="Nirmala UI Semilight"/>
              </a:rPr>
              <a:t> </a:t>
            </a:r>
            <a:r>
              <a:rPr sz="2400" spc="-415" dirty="0">
                <a:latin typeface="Nirmala UI Semilight"/>
                <a:cs typeface="Nirmala UI Semilight"/>
              </a:rPr>
              <a:t>आिण</a:t>
            </a:r>
            <a:r>
              <a:rPr sz="2400" spc="-110" dirty="0">
                <a:latin typeface="Nirmala UI Semilight"/>
                <a:cs typeface="Nirmala UI Semilight"/>
              </a:rPr>
              <a:t> </a:t>
            </a:r>
            <a:r>
              <a:rPr sz="2400" spc="-370" dirty="0">
                <a:latin typeface="Nirmala UI Semilight"/>
                <a:cs typeface="Nirmala UI Semilight"/>
              </a:rPr>
              <a:t>भरा</a:t>
            </a:r>
            <a:endParaRPr sz="2400">
              <a:latin typeface="Nirmala UI Semilight"/>
              <a:cs typeface="Nirmala UI Semilight"/>
            </a:endParaRPr>
          </a:p>
        </p:txBody>
      </p:sp>
      <p:pic>
        <p:nvPicPr>
          <p:cNvPr id="12" name="object 2">
            <a:extLst>
              <a:ext uri="{FF2B5EF4-FFF2-40B4-BE49-F238E27FC236}">
                <a16:creationId xmlns:a16="http://schemas.microsoft.com/office/drawing/2014/main" xmlns="" id="{F9BB9E94-6CA0-6B30-D54D-D9C110000FB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586450"/>
            <a:ext cx="9144000" cy="6172200"/>
          </a:xfrm>
          <a:prstGeom prst="rect">
            <a:avLst/>
          </a:prstGeom>
        </p:spPr>
      </p:pic>
      <p:sp>
        <p:nvSpPr>
          <p:cNvPr id="14" name="object 3">
            <a:extLst>
              <a:ext uri="{FF2B5EF4-FFF2-40B4-BE49-F238E27FC236}">
                <a16:creationId xmlns:a16="http://schemas.microsoft.com/office/drawing/2014/main" xmlns="" id="{82984255-3E2A-5C78-C541-1D062D38387B}"/>
              </a:ext>
            </a:extLst>
          </p:cNvPr>
          <p:cNvSpPr txBox="1">
            <a:spLocks/>
          </p:cNvSpPr>
          <p:nvPr/>
        </p:nvSpPr>
        <p:spPr>
          <a:xfrm>
            <a:off x="4863592" y="821388"/>
            <a:ext cx="4737608" cy="50398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>
            <a:lvl1pPr>
              <a:defRPr sz="3200" b="0" i="0">
                <a:solidFill>
                  <a:schemeClr val="bg1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spcBef>
                <a:spcPts val="90"/>
              </a:spcBef>
            </a:pPr>
            <a:r>
              <a:rPr lang="en-IN" kern="0" spc="-5" dirty="0"/>
              <a:t>  Response/Resolution</a:t>
            </a:r>
            <a:endParaRPr lang="en-IN" kern="0" spc="-1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5276619" y="1945105"/>
            <a:ext cx="3911553" cy="571444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701675" y="1868349"/>
            <a:ext cx="3822492" cy="5791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85928" y="4957770"/>
            <a:ext cx="20002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2"/>
                </a:solidFill>
              </a:rPr>
              <a:t>View   and   down load   receipt  option </a:t>
            </a:r>
            <a:r>
              <a:rPr lang="en-US" dirty="0" err="1" smtClean="0">
                <a:solidFill>
                  <a:schemeClr val="bg2"/>
                </a:solidFill>
              </a:rPr>
              <a:t>irequired</a:t>
            </a:r>
            <a:endParaRPr lang="en-US" dirty="0">
              <a:solidFill>
                <a:schemeClr val="bg2"/>
              </a:solidFill>
            </a:endParaRPr>
          </a:p>
        </p:txBody>
      </p:sp>
      <p:cxnSp>
        <p:nvCxnSpPr>
          <p:cNvPr id="9" name="Straight Arrow Connector 8"/>
          <p:cNvCxnSpPr/>
          <p:nvPr/>
        </p:nvCxnSpPr>
        <p:spPr>
          <a:xfrm rot="16200000" flipV="1">
            <a:off x="1385862" y="4814894"/>
            <a:ext cx="428628" cy="42862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31230086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784596" y="1325372"/>
            <a:ext cx="3670300" cy="84836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ts val="3725"/>
              </a:lnSpc>
              <a:spcBef>
                <a:spcPts val="90"/>
              </a:spcBef>
            </a:pPr>
            <a:r>
              <a:rPr spc="-30" dirty="0"/>
              <a:t>Know</a:t>
            </a:r>
            <a:r>
              <a:rPr spc="20" dirty="0"/>
              <a:t> </a:t>
            </a:r>
            <a:r>
              <a:rPr spc="-5" dirty="0"/>
              <a:t>/ </a:t>
            </a:r>
            <a:r>
              <a:rPr spc="-40" dirty="0"/>
              <a:t>Pay</a:t>
            </a:r>
            <a:r>
              <a:rPr spc="-20" dirty="0"/>
              <a:t> </a:t>
            </a:r>
            <a:r>
              <a:rPr spc="-65" dirty="0"/>
              <a:t>Your</a:t>
            </a:r>
            <a:r>
              <a:rPr spc="-5" dirty="0"/>
              <a:t> </a:t>
            </a:r>
            <a:r>
              <a:rPr spc="-75" dirty="0"/>
              <a:t>Taxes</a:t>
            </a:r>
          </a:p>
          <a:p>
            <a:pPr marL="1231900">
              <a:lnSpc>
                <a:spcPts val="2765"/>
              </a:lnSpc>
            </a:pPr>
            <a:r>
              <a:rPr sz="2400" spc="-360" dirty="0">
                <a:latin typeface="Nirmala UI Semilight"/>
                <a:cs typeface="Nirmala UI Semilight"/>
              </a:rPr>
              <a:t>आपले</a:t>
            </a:r>
            <a:r>
              <a:rPr sz="2400" spc="-110" dirty="0">
                <a:latin typeface="Nirmala UI Semilight"/>
                <a:cs typeface="Nirmala UI Semilight"/>
              </a:rPr>
              <a:t> </a:t>
            </a:r>
            <a:r>
              <a:rPr sz="2400" spc="-590" dirty="0">
                <a:latin typeface="Nirmala UI Semilight"/>
                <a:cs typeface="Nirmala UI Semilight"/>
              </a:rPr>
              <a:t>कर</a:t>
            </a:r>
            <a:r>
              <a:rPr sz="2400" spc="-465" dirty="0">
                <a:latin typeface="Nirmala UI Semilight"/>
                <a:cs typeface="Nirmala UI Semilight"/>
              </a:rPr>
              <a:t> </a:t>
            </a:r>
            <a:r>
              <a:rPr sz="2400" spc="-515" dirty="0">
                <a:latin typeface="Nirmala UI Semilight"/>
                <a:cs typeface="Nirmala UI Semilight"/>
              </a:rPr>
              <a:t>देय</a:t>
            </a:r>
            <a:r>
              <a:rPr sz="2400" spc="-135" dirty="0">
                <a:latin typeface="Nirmala UI Semilight"/>
                <a:cs typeface="Nirmala UI Semilight"/>
              </a:rPr>
              <a:t> </a:t>
            </a:r>
            <a:r>
              <a:rPr sz="2400" spc="-375" dirty="0">
                <a:latin typeface="Nirmala UI Semilight"/>
                <a:cs typeface="Nirmala UI Semilight"/>
              </a:rPr>
              <a:t>पहा</a:t>
            </a:r>
            <a:r>
              <a:rPr sz="2400" spc="-114" dirty="0">
                <a:latin typeface="Nirmala UI Semilight"/>
                <a:cs typeface="Nirmala UI Semilight"/>
              </a:rPr>
              <a:t> </a:t>
            </a:r>
            <a:r>
              <a:rPr sz="2400" spc="-415" dirty="0">
                <a:latin typeface="Nirmala UI Semilight"/>
                <a:cs typeface="Nirmala UI Semilight"/>
              </a:rPr>
              <a:t>आिण</a:t>
            </a:r>
            <a:r>
              <a:rPr sz="2400" spc="-110" dirty="0">
                <a:latin typeface="Nirmala UI Semilight"/>
                <a:cs typeface="Nirmala UI Semilight"/>
              </a:rPr>
              <a:t> </a:t>
            </a:r>
            <a:r>
              <a:rPr sz="2400" spc="-370" dirty="0">
                <a:latin typeface="Nirmala UI Semilight"/>
                <a:cs typeface="Nirmala UI Semilight"/>
              </a:rPr>
              <a:t>भरा</a:t>
            </a:r>
            <a:endParaRPr sz="2400">
              <a:latin typeface="Nirmala UI Semilight"/>
              <a:cs typeface="Nirmala UI Semilight"/>
            </a:endParaRPr>
          </a:p>
        </p:txBody>
      </p:sp>
      <p:pic>
        <p:nvPicPr>
          <p:cNvPr id="12" name="object 2">
            <a:extLst>
              <a:ext uri="{FF2B5EF4-FFF2-40B4-BE49-F238E27FC236}">
                <a16:creationId xmlns:a16="http://schemas.microsoft.com/office/drawing/2014/main" xmlns="" id="{F9BB9E94-6CA0-6B30-D54D-D9C110000FB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586450"/>
            <a:ext cx="9144000" cy="6172200"/>
          </a:xfrm>
          <a:prstGeom prst="rect">
            <a:avLst/>
          </a:prstGeom>
        </p:spPr>
      </p:pic>
      <p:sp>
        <p:nvSpPr>
          <p:cNvPr id="14" name="object 3">
            <a:extLst>
              <a:ext uri="{FF2B5EF4-FFF2-40B4-BE49-F238E27FC236}">
                <a16:creationId xmlns:a16="http://schemas.microsoft.com/office/drawing/2014/main" xmlns="" id="{82984255-3E2A-5C78-C541-1D062D38387B}"/>
              </a:ext>
            </a:extLst>
          </p:cNvPr>
          <p:cNvSpPr txBox="1">
            <a:spLocks/>
          </p:cNvSpPr>
          <p:nvPr/>
        </p:nvSpPr>
        <p:spPr>
          <a:xfrm>
            <a:off x="4863592" y="821388"/>
            <a:ext cx="4737608" cy="50398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>
            <a:lvl1pPr>
              <a:defRPr sz="3200" b="0" i="0">
                <a:solidFill>
                  <a:schemeClr val="bg1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spcBef>
                <a:spcPts val="90"/>
              </a:spcBef>
            </a:pPr>
            <a:r>
              <a:rPr lang="en-IN" kern="0" spc="-5" dirty="0"/>
              <a:t>  Response/Resolution</a:t>
            </a:r>
            <a:endParaRPr lang="en-IN" kern="0" spc="-1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52400" y="2667000"/>
            <a:ext cx="2999126" cy="50292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7212343" y="2691063"/>
            <a:ext cx="2587098" cy="565992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3404011" y="2698926"/>
            <a:ext cx="3587262" cy="532384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029200" y="1850566"/>
            <a:ext cx="4648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After payment  receipt is generated  same as CFC  or  web view  receipt.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9725851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784596" y="1325372"/>
            <a:ext cx="3670300" cy="84836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ts val="3725"/>
              </a:lnSpc>
              <a:spcBef>
                <a:spcPts val="90"/>
              </a:spcBef>
            </a:pPr>
            <a:r>
              <a:rPr spc="-30" dirty="0"/>
              <a:t>Know</a:t>
            </a:r>
            <a:r>
              <a:rPr spc="20" dirty="0"/>
              <a:t> </a:t>
            </a:r>
            <a:r>
              <a:rPr spc="-5" dirty="0"/>
              <a:t>/ </a:t>
            </a:r>
            <a:r>
              <a:rPr spc="-40" dirty="0"/>
              <a:t>Pay</a:t>
            </a:r>
            <a:r>
              <a:rPr spc="-20" dirty="0"/>
              <a:t> </a:t>
            </a:r>
            <a:r>
              <a:rPr spc="-65" dirty="0"/>
              <a:t>Your</a:t>
            </a:r>
            <a:r>
              <a:rPr spc="-5" dirty="0"/>
              <a:t> </a:t>
            </a:r>
            <a:r>
              <a:rPr spc="-75" dirty="0"/>
              <a:t>Taxes</a:t>
            </a:r>
          </a:p>
          <a:p>
            <a:pPr marL="1231900">
              <a:lnSpc>
                <a:spcPts val="2765"/>
              </a:lnSpc>
            </a:pPr>
            <a:r>
              <a:rPr sz="2400" spc="-360" dirty="0">
                <a:latin typeface="Nirmala UI Semilight"/>
                <a:cs typeface="Nirmala UI Semilight"/>
              </a:rPr>
              <a:t>आपले</a:t>
            </a:r>
            <a:r>
              <a:rPr sz="2400" spc="-110" dirty="0">
                <a:latin typeface="Nirmala UI Semilight"/>
                <a:cs typeface="Nirmala UI Semilight"/>
              </a:rPr>
              <a:t> </a:t>
            </a:r>
            <a:r>
              <a:rPr sz="2400" spc="-590" dirty="0">
                <a:latin typeface="Nirmala UI Semilight"/>
                <a:cs typeface="Nirmala UI Semilight"/>
              </a:rPr>
              <a:t>कर</a:t>
            </a:r>
            <a:r>
              <a:rPr sz="2400" spc="-465" dirty="0">
                <a:latin typeface="Nirmala UI Semilight"/>
                <a:cs typeface="Nirmala UI Semilight"/>
              </a:rPr>
              <a:t> </a:t>
            </a:r>
            <a:r>
              <a:rPr sz="2400" spc="-515" dirty="0">
                <a:latin typeface="Nirmala UI Semilight"/>
                <a:cs typeface="Nirmala UI Semilight"/>
              </a:rPr>
              <a:t>देय</a:t>
            </a:r>
            <a:r>
              <a:rPr sz="2400" spc="-135" dirty="0">
                <a:latin typeface="Nirmala UI Semilight"/>
                <a:cs typeface="Nirmala UI Semilight"/>
              </a:rPr>
              <a:t> </a:t>
            </a:r>
            <a:r>
              <a:rPr sz="2400" spc="-375" dirty="0">
                <a:latin typeface="Nirmala UI Semilight"/>
                <a:cs typeface="Nirmala UI Semilight"/>
              </a:rPr>
              <a:t>पहा</a:t>
            </a:r>
            <a:r>
              <a:rPr sz="2400" spc="-114" dirty="0">
                <a:latin typeface="Nirmala UI Semilight"/>
                <a:cs typeface="Nirmala UI Semilight"/>
              </a:rPr>
              <a:t> </a:t>
            </a:r>
            <a:r>
              <a:rPr sz="2400" spc="-415" dirty="0">
                <a:latin typeface="Nirmala UI Semilight"/>
                <a:cs typeface="Nirmala UI Semilight"/>
              </a:rPr>
              <a:t>आिण</a:t>
            </a:r>
            <a:r>
              <a:rPr sz="2400" spc="-110" dirty="0">
                <a:latin typeface="Nirmala UI Semilight"/>
                <a:cs typeface="Nirmala UI Semilight"/>
              </a:rPr>
              <a:t> </a:t>
            </a:r>
            <a:r>
              <a:rPr sz="2400" spc="-370" dirty="0">
                <a:latin typeface="Nirmala UI Semilight"/>
                <a:cs typeface="Nirmala UI Semilight"/>
              </a:rPr>
              <a:t>भरा</a:t>
            </a:r>
            <a:endParaRPr sz="2400">
              <a:latin typeface="Nirmala UI Semilight"/>
              <a:cs typeface="Nirmala UI Semilight"/>
            </a:endParaRPr>
          </a:p>
        </p:txBody>
      </p:sp>
      <p:pic>
        <p:nvPicPr>
          <p:cNvPr id="12" name="object 2">
            <a:extLst>
              <a:ext uri="{FF2B5EF4-FFF2-40B4-BE49-F238E27FC236}">
                <a16:creationId xmlns:a16="http://schemas.microsoft.com/office/drawing/2014/main" xmlns="" id="{F9BB9E94-6CA0-6B30-D54D-D9C110000FB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598025"/>
            <a:ext cx="9144000" cy="6172200"/>
          </a:xfrm>
          <a:prstGeom prst="rect">
            <a:avLst/>
          </a:prstGeom>
        </p:spPr>
      </p:pic>
      <p:sp>
        <p:nvSpPr>
          <p:cNvPr id="14" name="object 3">
            <a:extLst>
              <a:ext uri="{FF2B5EF4-FFF2-40B4-BE49-F238E27FC236}">
                <a16:creationId xmlns:a16="http://schemas.microsoft.com/office/drawing/2014/main" xmlns="" id="{82984255-3E2A-5C78-C541-1D062D38387B}"/>
              </a:ext>
            </a:extLst>
          </p:cNvPr>
          <p:cNvSpPr txBox="1">
            <a:spLocks/>
          </p:cNvSpPr>
          <p:nvPr/>
        </p:nvSpPr>
        <p:spPr>
          <a:xfrm>
            <a:off x="4863592" y="821388"/>
            <a:ext cx="4737608" cy="50398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>
            <a:lvl1pPr>
              <a:defRPr sz="3200" b="0" i="0">
                <a:solidFill>
                  <a:schemeClr val="bg1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spcBef>
                <a:spcPts val="90"/>
              </a:spcBef>
            </a:pPr>
            <a:r>
              <a:rPr lang="en-IN" kern="0" spc="-5" dirty="0"/>
              <a:t>  Response/Resolution</a:t>
            </a:r>
            <a:endParaRPr lang="en-IN" kern="0" spc="-1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5282072" y="1949116"/>
            <a:ext cx="3900647" cy="5614737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09600" y="1949116"/>
            <a:ext cx="3852800" cy="561473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600176" y="4886332"/>
            <a:ext cx="207170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2"/>
                </a:solidFill>
              </a:rPr>
              <a:t>View  and down load  receipt  option is  required</a:t>
            </a:r>
            <a:endParaRPr lang="en-US" dirty="0">
              <a:solidFill>
                <a:schemeClr val="bg2"/>
              </a:solidFill>
            </a:endParaRPr>
          </a:p>
        </p:txBody>
      </p:sp>
      <p:cxnSp>
        <p:nvCxnSpPr>
          <p:cNvPr id="9" name="Straight Arrow Connector 8"/>
          <p:cNvCxnSpPr/>
          <p:nvPr/>
        </p:nvCxnSpPr>
        <p:spPr>
          <a:xfrm rot="10800000">
            <a:off x="1528738" y="4529142"/>
            <a:ext cx="571504" cy="28575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6207704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784596" y="1325372"/>
            <a:ext cx="3670300" cy="84836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ts val="3725"/>
              </a:lnSpc>
              <a:spcBef>
                <a:spcPts val="90"/>
              </a:spcBef>
            </a:pPr>
            <a:r>
              <a:rPr spc="-30" dirty="0"/>
              <a:t>Know</a:t>
            </a:r>
            <a:r>
              <a:rPr spc="20" dirty="0"/>
              <a:t> </a:t>
            </a:r>
            <a:r>
              <a:rPr spc="-5" dirty="0"/>
              <a:t>/ </a:t>
            </a:r>
            <a:r>
              <a:rPr spc="-40" dirty="0"/>
              <a:t>Pay</a:t>
            </a:r>
            <a:r>
              <a:rPr spc="-20" dirty="0"/>
              <a:t> </a:t>
            </a:r>
            <a:r>
              <a:rPr spc="-65" dirty="0"/>
              <a:t>Your</a:t>
            </a:r>
            <a:r>
              <a:rPr spc="-5" dirty="0"/>
              <a:t> </a:t>
            </a:r>
            <a:r>
              <a:rPr spc="-75" dirty="0"/>
              <a:t>Taxes</a:t>
            </a:r>
          </a:p>
          <a:p>
            <a:pPr marL="1231900">
              <a:lnSpc>
                <a:spcPts val="2765"/>
              </a:lnSpc>
            </a:pPr>
            <a:r>
              <a:rPr sz="2400" spc="-360" dirty="0">
                <a:latin typeface="Nirmala UI Semilight"/>
                <a:cs typeface="Nirmala UI Semilight"/>
              </a:rPr>
              <a:t>आपले</a:t>
            </a:r>
            <a:r>
              <a:rPr sz="2400" spc="-110" dirty="0">
                <a:latin typeface="Nirmala UI Semilight"/>
                <a:cs typeface="Nirmala UI Semilight"/>
              </a:rPr>
              <a:t> </a:t>
            </a:r>
            <a:r>
              <a:rPr sz="2400" spc="-590" dirty="0">
                <a:latin typeface="Nirmala UI Semilight"/>
                <a:cs typeface="Nirmala UI Semilight"/>
              </a:rPr>
              <a:t>कर</a:t>
            </a:r>
            <a:r>
              <a:rPr sz="2400" spc="-465" dirty="0">
                <a:latin typeface="Nirmala UI Semilight"/>
                <a:cs typeface="Nirmala UI Semilight"/>
              </a:rPr>
              <a:t> </a:t>
            </a:r>
            <a:r>
              <a:rPr sz="2400" spc="-515" dirty="0">
                <a:latin typeface="Nirmala UI Semilight"/>
                <a:cs typeface="Nirmala UI Semilight"/>
              </a:rPr>
              <a:t>देय</a:t>
            </a:r>
            <a:r>
              <a:rPr sz="2400" spc="-135" dirty="0">
                <a:latin typeface="Nirmala UI Semilight"/>
                <a:cs typeface="Nirmala UI Semilight"/>
              </a:rPr>
              <a:t> </a:t>
            </a:r>
            <a:r>
              <a:rPr sz="2400" spc="-375" dirty="0">
                <a:latin typeface="Nirmala UI Semilight"/>
                <a:cs typeface="Nirmala UI Semilight"/>
              </a:rPr>
              <a:t>पहा</a:t>
            </a:r>
            <a:r>
              <a:rPr sz="2400" spc="-114" dirty="0">
                <a:latin typeface="Nirmala UI Semilight"/>
                <a:cs typeface="Nirmala UI Semilight"/>
              </a:rPr>
              <a:t> </a:t>
            </a:r>
            <a:r>
              <a:rPr sz="2400" spc="-415" dirty="0">
                <a:latin typeface="Nirmala UI Semilight"/>
                <a:cs typeface="Nirmala UI Semilight"/>
              </a:rPr>
              <a:t>आिण</a:t>
            </a:r>
            <a:r>
              <a:rPr sz="2400" spc="-110" dirty="0">
                <a:latin typeface="Nirmala UI Semilight"/>
                <a:cs typeface="Nirmala UI Semilight"/>
              </a:rPr>
              <a:t> </a:t>
            </a:r>
            <a:r>
              <a:rPr sz="2400" spc="-370" dirty="0">
                <a:latin typeface="Nirmala UI Semilight"/>
                <a:cs typeface="Nirmala UI Semilight"/>
              </a:rPr>
              <a:t>भरा</a:t>
            </a:r>
            <a:endParaRPr sz="2400">
              <a:latin typeface="Nirmala UI Semilight"/>
              <a:cs typeface="Nirmala UI Semilight"/>
            </a:endParaRPr>
          </a:p>
        </p:txBody>
      </p:sp>
      <p:pic>
        <p:nvPicPr>
          <p:cNvPr id="12" name="object 2">
            <a:extLst>
              <a:ext uri="{FF2B5EF4-FFF2-40B4-BE49-F238E27FC236}">
                <a16:creationId xmlns:a16="http://schemas.microsoft.com/office/drawing/2014/main" xmlns="" id="{F9BB9E94-6CA0-6B30-D54D-D9C110000FB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598025"/>
            <a:ext cx="9144000" cy="6172200"/>
          </a:xfrm>
          <a:prstGeom prst="rect">
            <a:avLst/>
          </a:prstGeom>
        </p:spPr>
      </p:pic>
      <p:sp>
        <p:nvSpPr>
          <p:cNvPr id="14" name="object 3">
            <a:extLst>
              <a:ext uri="{FF2B5EF4-FFF2-40B4-BE49-F238E27FC236}">
                <a16:creationId xmlns:a16="http://schemas.microsoft.com/office/drawing/2014/main" xmlns="" id="{82984255-3E2A-5C78-C541-1D062D38387B}"/>
              </a:ext>
            </a:extLst>
          </p:cNvPr>
          <p:cNvSpPr txBox="1">
            <a:spLocks/>
          </p:cNvSpPr>
          <p:nvPr/>
        </p:nvSpPr>
        <p:spPr>
          <a:xfrm>
            <a:off x="4863592" y="821388"/>
            <a:ext cx="4737608" cy="50398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>
            <a:lvl1pPr>
              <a:defRPr sz="3200" b="0" i="0">
                <a:solidFill>
                  <a:schemeClr val="bg1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spcBef>
                <a:spcPts val="90"/>
              </a:spcBef>
            </a:pPr>
            <a:r>
              <a:rPr lang="en-IN" kern="0" spc="-5" dirty="0"/>
              <a:t>  Response/Resolution</a:t>
            </a:r>
            <a:endParaRPr lang="en-IN" kern="0" spc="-1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5638292" y="2888488"/>
            <a:ext cx="3200400" cy="494853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571500" y="2709565"/>
            <a:ext cx="2971800" cy="48006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029200" y="1885936"/>
            <a:ext cx="5029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After payment  receipt is generated  same as  CFC ,web view receipt.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6478217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1313688"/>
            <a:ext cx="9144000" cy="514502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336028" y="1313180"/>
            <a:ext cx="2049780" cy="5124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pc="-5" dirty="0"/>
              <a:t>Other</a:t>
            </a:r>
            <a:r>
              <a:rPr spc="-65" dirty="0"/>
              <a:t> </a:t>
            </a:r>
            <a:r>
              <a:rPr spc="-10" dirty="0"/>
              <a:t>Notes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38987" y="2159304"/>
            <a:ext cx="8419303" cy="3632405"/>
          </a:xfrm>
          <a:prstGeom prst="rect">
            <a:avLst/>
          </a:prstGeom>
        </p:spPr>
        <p:txBody>
          <a:bodyPr vert="horz" wrap="square" lIns="0" tIns="168275" rIns="0" bIns="0" rtlCol="0">
            <a:spAutoFit/>
          </a:bodyPr>
          <a:lstStyle/>
          <a:p>
            <a:pPr marL="356870" indent="-344805">
              <a:lnSpc>
                <a:spcPct val="100000"/>
              </a:lnSpc>
              <a:spcBef>
                <a:spcPts val="1325"/>
              </a:spcBef>
              <a:buFont typeface="Wingdings"/>
              <a:buChar char=""/>
              <a:tabLst>
                <a:tab pos="356870" algn="l"/>
                <a:tab pos="357505" algn="l"/>
              </a:tabLst>
            </a:pPr>
            <a:r>
              <a:rPr lang="en-US" sz="2000" b="1" spc="-5" dirty="0" smtClean="0">
                <a:solidFill>
                  <a:srgbClr val="00AF4F"/>
                </a:solidFill>
                <a:cs typeface="Calibri"/>
              </a:rPr>
              <a:t>1. All links need to be updated / active </a:t>
            </a:r>
            <a:endParaRPr lang="en-US" sz="2000" b="1" spc="-5" dirty="0" smtClean="0">
              <a:solidFill>
                <a:srgbClr val="00AF4F"/>
              </a:solidFill>
              <a:cs typeface="Calibri"/>
            </a:endParaRPr>
          </a:p>
          <a:p>
            <a:pPr marL="356870" indent="-344805">
              <a:lnSpc>
                <a:spcPct val="100000"/>
              </a:lnSpc>
              <a:spcBef>
                <a:spcPts val="1325"/>
              </a:spcBef>
              <a:buFont typeface="Wingdings"/>
              <a:buChar char=""/>
              <a:tabLst>
                <a:tab pos="356870" algn="l"/>
                <a:tab pos="357505" algn="l"/>
              </a:tabLst>
            </a:pPr>
            <a:r>
              <a:rPr lang="en-US" sz="2000" b="1" spc="-5" dirty="0" smtClean="0">
                <a:solidFill>
                  <a:srgbClr val="00AF4F"/>
                </a:solidFill>
                <a:cs typeface="Calibri"/>
              </a:rPr>
              <a:t>2</a:t>
            </a:r>
            <a:r>
              <a:rPr lang="en-US" sz="2000" b="1" spc="-5" dirty="0" smtClean="0">
                <a:solidFill>
                  <a:srgbClr val="00AF4F"/>
                </a:solidFill>
                <a:cs typeface="Calibri"/>
              </a:rPr>
              <a:t>. All information needs to be properly </a:t>
            </a:r>
            <a:r>
              <a:rPr lang="en-US" sz="2000" b="1" spc="-5" dirty="0" smtClean="0">
                <a:solidFill>
                  <a:srgbClr val="00AF4F"/>
                </a:solidFill>
                <a:cs typeface="Calibri"/>
              </a:rPr>
              <a:t>structured</a:t>
            </a:r>
          </a:p>
          <a:p>
            <a:pPr marL="356870" indent="-344805">
              <a:lnSpc>
                <a:spcPct val="100000"/>
              </a:lnSpc>
              <a:spcBef>
                <a:spcPts val="1325"/>
              </a:spcBef>
              <a:buFont typeface="Wingdings"/>
              <a:buChar char=""/>
              <a:tabLst>
                <a:tab pos="356870" algn="l"/>
                <a:tab pos="357505" algn="l"/>
              </a:tabLst>
            </a:pPr>
            <a:r>
              <a:rPr lang="en-US" sz="2000" b="1" spc="-5" dirty="0" smtClean="0">
                <a:solidFill>
                  <a:srgbClr val="00AF4F"/>
                </a:solidFill>
                <a:cs typeface="Calibri"/>
              </a:rPr>
              <a:t>3</a:t>
            </a:r>
            <a:r>
              <a:rPr lang="en-US" sz="2000" b="1" spc="-5" dirty="0" smtClean="0">
                <a:solidFill>
                  <a:srgbClr val="00AF4F"/>
                </a:solidFill>
                <a:cs typeface="Calibri"/>
              </a:rPr>
              <a:t>. App response time should be </a:t>
            </a:r>
            <a:r>
              <a:rPr lang="en-US" sz="2000" b="1" spc="-5" dirty="0" smtClean="0">
                <a:solidFill>
                  <a:srgbClr val="00AF4F"/>
                </a:solidFill>
                <a:cs typeface="Calibri"/>
              </a:rPr>
              <a:t>better</a:t>
            </a:r>
          </a:p>
          <a:p>
            <a:pPr marL="356870" indent="-344805">
              <a:lnSpc>
                <a:spcPct val="100000"/>
              </a:lnSpc>
              <a:spcBef>
                <a:spcPts val="1325"/>
              </a:spcBef>
              <a:buFont typeface="Wingdings"/>
              <a:buChar char=""/>
              <a:tabLst>
                <a:tab pos="356870" algn="l"/>
                <a:tab pos="357505" algn="l"/>
              </a:tabLst>
            </a:pPr>
            <a:r>
              <a:rPr lang="en-US" sz="2000" b="1" spc="-5" dirty="0" smtClean="0">
                <a:solidFill>
                  <a:srgbClr val="00AF4F"/>
                </a:solidFill>
                <a:cs typeface="Calibri"/>
              </a:rPr>
              <a:t>4</a:t>
            </a:r>
            <a:r>
              <a:rPr lang="en-US" sz="2000" b="1" spc="-5" dirty="0" smtClean="0">
                <a:solidFill>
                  <a:srgbClr val="00AF4F"/>
                </a:solidFill>
                <a:cs typeface="Calibri"/>
              </a:rPr>
              <a:t>. There should be a session timeout </a:t>
            </a:r>
            <a:r>
              <a:rPr lang="en-US" sz="2000" b="1" spc="-5" dirty="0" smtClean="0">
                <a:solidFill>
                  <a:srgbClr val="00AF4F"/>
                </a:solidFill>
                <a:cs typeface="Calibri"/>
              </a:rPr>
              <a:t>facility</a:t>
            </a:r>
          </a:p>
          <a:p>
            <a:pPr marL="356870" indent="-344805">
              <a:lnSpc>
                <a:spcPct val="100000"/>
              </a:lnSpc>
              <a:spcBef>
                <a:spcPts val="1325"/>
              </a:spcBef>
              <a:buFont typeface="Wingdings"/>
              <a:buChar char=""/>
              <a:tabLst>
                <a:tab pos="356870" algn="l"/>
                <a:tab pos="357505" algn="l"/>
              </a:tabLst>
            </a:pPr>
            <a:r>
              <a:rPr lang="en-US" sz="2000" b="1" spc="-5" dirty="0" smtClean="0">
                <a:solidFill>
                  <a:srgbClr val="00AF4F"/>
                </a:solidFill>
                <a:cs typeface="Calibri"/>
              </a:rPr>
              <a:t>5</a:t>
            </a:r>
            <a:r>
              <a:rPr lang="en-US" sz="2000" b="1" spc="-5" dirty="0" smtClean="0">
                <a:solidFill>
                  <a:srgbClr val="00AF4F"/>
                </a:solidFill>
                <a:cs typeface="Calibri"/>
              </a:rPr>
              <a:t>. There should be facility to send mass pop up notifications </a:t>
            </a:r>
            <a:endParaRPr lang="en-US" sz="2000" b="1" spc="-5" dirty="0" smtClean="0">
              <a:solidFill>
                <a:srgbClr val="00AF4F"/>
              </a:solidFill>
              <a:cs typeface="Calibri"/>
            </a:endParaRPr>
          </a:p>
          <a:p>
            <a:pPr marL="356870" indent="-344805">
              <a:lnSpc>
                <a:spcPct val="100000"/>
              </a:lnSpc>
              <a:spcBef>
                <a:spcPts val="1325"/>
              </a:spcBef>
              <a:buFont typeface="Wingdings"/>
              <a:buChar char=""/>
              <a:tabLst>
                <a:tab pos="356870" algn="l"/>
                <a:tab pos="357505" algn="l"/>
              </a:tabLst>
            </a:pPr>
            <a:r>
              <a:rPr lang="en-US" sz="2000" b="1" spc="-5" dirty="0" smtClean="0">
                <a:solidFill>
                  <a:srgbClr val="00AF4F"/>
                </a:solidFill>
                <a:cs typeface="Calibri"/>
              </a:rPr>
              <a:t>6</a:t>
            </a:r>
            <a:r>
              <a:rPr lang="en-US" sz="2000" b="1" spc="-5" dirty="0" smtClean="0">
                <a:solidFill>
                  <a:srgbClr val="00AF4F"/>
                </a:solidFill>
                <a:cs typeface="Calibri"/>
              </a:rPr>
              <a:t>. For property and water payments I have already informed that View Bill / Pay Bill / View Receipt should be available </a:t>
            </a:r>
            <a:r>
              <a:rPr lang="en-US" sz="2000" b="1" spc="-5" dirty="0" err="1" smtClean="0">
                <a:solidFill>
                  <a:srgbClr val="00AF4F"/>
                </a:solidFill>
                <a:cs typeface="Calibri"/>
              </a:rPr>
              <a:t>alongwith</a:t>
            </a:r>
            <a:r>
              <a:rPr lang="en-US" sz="2000" b="1" spc="-5" dirty="0" smtClean="0">
                <a:solidFill>
                  <a:srgbClr val="00AF4F"/>
                </a:solidFill>
                <a:cs typeface="Calibri"/>
              </a:rPr>
              <a:t> the ledger. </a:t>
            </a:r>
            <a:endParaRPr lang="en-US" sz="2000" b="1" spc="-5" dirty="0" smtClean="0">
              <a:solidFill>
                <a:srgbClr val="00AF4F"/>
              </a:solidFill>
              <a:cs typeface="Calibri"/>
            </a:endParaRPr>
          </a:p>
          <a:p>
            <a:pPr marL="356870" indent="-344805">
              <a:lnSpc>
                <a:spcPct val="100000"/>
              </a:lnSpc>
              <a:spcBef>
                <a:spcPts val="1325"/>
              </a:spcBef>
              <a:buFont typeface="Wingdings"/>
              <a:buChar char=""/>
              <a:tabLst>
                <a:tab pos="356870" algn="l"/>
                <a:tab pos="357505" algn="l"/>
              </a:tabLst>
            </a:pPr>
            <a:r>
              <a:rPr lang="en-US" sz="2000" b="1" spc="-5" dirty="0" smtClean="0">
                <a:solidFill>
                  <a:srgbClr val="00AF4F"/>
                </a:solidFill>
                <a:latin typeface="Calibri"/>
                <a:cs typeface="Calibri"/>
              </a:rPr>
              <a:t>7.</a:t>
            </a:r>
            <a:r>
              <a:rPr sz="2000" b="1" spc="-15" smtClean="0">
                <a:solidFill>
                  <a:srgbClr val="00AF4F"/>
                </a:solidFill>
                <a:latin typeface="Calibri"/>
                <a:cs typeface="Calibri"/>
              </a:rPr>
              <a:t>Failed</a:t>
            </a:r>
            <a:r>
              <a:rPr sz="2000" b="1" spc="5" smtClean="0">
                <a:solidFill>
                  <a:srgbClr val="00AF4F"/>
                </a:solidFill>
                <a:latin typeface="Calibri"/>
                <a:cs typeface="Calibri"/>
              </a:rPr>
              <a:t> </a:t>
            </a:r>
            <a:r>
              <a:rPr sz="2000" b="1" spc="-15" dirty="0">
                <a:solidFill>
                  <a:srgbClr val="00AF4F"/>
                </a:solidFill>
                <a:latin typeface="Calibri"/>
                <a:cs typeface="Calibri"/>
              </a:rPr>
              <a:t>to</a:t>
            </a:r>
            <a:r>
              <a:rPr sz="2000" b="1" spc="10" dirty="0">
                <a:solidFill>
                  <a:srgbClr val="00AF4F"/>
                </a:solidFill>
                <a:latin typeface="Calibri"/>
                <a:cs typeface="Calibri"/>
              </a:rPr>
              <a:t> </a:t>
            </a:r>
            <a:r>
              <a:rPr sz="2000" b="1" spc="-5" dirty="0">
                <a:solidFill>
                  <a:srgbClr val="00AF4F"/>
                </a:solidFill>
                <a:latin typeface="Calibri"/>
                <a:cs typeface="Calibri"/>
              </a:rPr>
              <a:t>Newly</a:t>
            </a:r>
            <a:r>
              <a:rPr sz="2000" b="1" spc="-10" dirty="0">
                <a:solidFill>
                  <a:srgbClr val="00AF4F"/>
                </a:solidFill>
                <a:latin typeface="Calibri"/>
                <a:cs typeface="Calibri"/>
              </a:rPr>
              <a:t> </a:t>
            </a:r>
            <a:r>
              <a:rPr sz="2000" b="1" spc="-15" dirty="0">
                <a:solidFill>
                  <a:srgbClr val="00AF4F"/>
                </a:solidFill>
                <a:latin typeface="Calibri"/>
                <a:cs typeface="Calibri"/>
              </a:rPr>
              <a:t>Install</a:t>
            </a:r>
            <a:r>
              <a:rPr sz="2000" b="1" spc="15" dirty="0">
                <a:solidFill>
                  <a:srgbClr val="00AF4F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00AF4F"/>
                </a:solidFill>
                <a:latin typeface="Calibri"/>
                <a:cs typeface="Calibri"/>
              </a:rPr>
              <a:t>in</a:t>
            </a:r>
            <a:r>
              <a:rPr sz="2000" b="1" spc="10" dirty="0">
                <a:solidFill>
                  <a:srgbClr val="00AF4F"/>
                </a:solidFill>
                <a:latin typeface="Calibri"/>
                <a:cs typeface="Calibri"/>
              </a:rPr>
              <a:t> </a:t>
            </a:r>
            <a:r>
              <a:rPr sz="2000" b="1" spc="-5" dirty="0">
                <a:solidFill>
                  <a:srgbClr val="00AF4F"/>
                </a:solidFill>
                <a:latin typeface="Calibri"/>
                <a:cs typeface="Calibri"/>
              </a:rPr>
              <a:t>Android</a:t>
            </a:r>
            <a:r>
              <a:rPr sz="2000" b="1" spc="-10" dirty="0">
                <a:solidFill>
                  <a:srgbClr val="00AF4F"/>
                </a:solidFill>
                <a:latin typeface="Calibri"/>
                <a:cs typeface="Calibri"/>
              </a:rPr>
              <a:t> </a:t>
            </a:r>
            <a:r>
              <a:rPr sz="2000" b="1" spc="-5" dirty="0">
                <a:solidFill>
                  <a:srgbClr val="00AF4F"/>
                </a:solidFill>
                <a:latin typeface="Calibri"/>
                <a:cs typeface="Calibri"/>
              </a:rPr>
              <a:t>/</a:t>
            </a:r>
            <a:r>
              <a:rPr sz="2000" b="1" spc="20" dirty="0">
                <a:solidFill>
                  <a:srgbClr val="00AF4F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00AF4F"/>
                </a:solidFill>
                <a:latin typeface="Calibri"/>
                <a:cs typeface="Calibri"/>
              </a:rPr>
              <a:t>iOS</a:t>
            </a:r>
            <a:r>
              <a:rPr sz="2000" b="1" spc="20" dirty="0">
                <a:solidFill>
                  <a:srgbClr val="00AF4F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00AF4F"/>
                </a:solidFill>
                <a:latin typeface="Calibri"/>
                <a:cs typeface="Calibri"/>
              </a:rPr>
              <a:t>(for </a:t>
            </a:r>
            <a:r>
              <a:rPr sz="2000" b="1" spc="-5" dirty="0">
                <a:solidFill>
                  <a:srgbClr val="00AF4F"/>
                </a:solidFill>
                <a:latin typeface="Calibri"/>
                <a:cs typeface="Calibri"/>
              </a:rPr>
              <a:t>iPhone</a:t>
            </a:r>
            <a:r>
              <a:rPr sz="2000" b="1" spc="5" dirty="0">
                <a:solidFill>
                  <a:srgbClr val="00AF4F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00AF4F"/>
                </a:solidFill>
                <a:latin typeface="Calibri"/>
                <a:cs typeface="Calibri"/>
              </a:rPr>
              <a:t>Users)*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381</Words>
  <PresentationFormat>Custom</PresentationFormat>
  <Paragraphs>58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Slide 1</vt:lpstr>
      <vt:lpstr>APP Main / Home Page</vt:lpstr>
      <vt:lpstr>Know / Pay Your Taxes आपले कर देय पहा आिण भरा</vt:lpstr>
      <vt:lpstr>Know / Pay Your Taxes आपले कर देय पहा आिण भरा</vt:lpstr>
      <vt:lpstr>Know / Pay Your Taxes आपले कर देय पहा आिण भरा</vt:lpstr>
      <vt:lpstr>Know / Pay Your Taxes आपले कर देय पहा आिण भरा</vt:lpstr>
      <vt:lpstr>Know / Pay Your Taxes आपले कर देय पहा आिण भरा</vt:lpstr>
      <vt:lpstr>Know / Pay Your Taxes आपले कर देय पहा आिण भरा</vt:lpstr>
      <vt:lpstr>Know / Pay Your Taxes आपले कर देय पहा आिण भरा</vt:lpstr>
      <vt:lpstr>Know / Pay Your Taxes आपले कर देय पहा आिण भरा</vt:lpstr>
      <vt:lpstr>Know / Pay Your Taxes आपले कर देय पहा आिण भरा</vt:lpstr>
      <vt:lpstr>Know / Pay Your Taxes आपले कर देय पहा आिण भरा</vt:lpstr>
      <vt:lpstr>Know / Pay Your Taxes आपले कर देय पहा आिण भरा</vt:lpstr>
      <vt:lpstr>Other Notes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dell</dc:creator>
  <cp:lastModifiedBy>dell</cp:lastModifiedBy>
  <cp:revision>8</cp:revision>
  <dcterms:modified xsi:type="dcterms:W3CDTF">2022-07-29T11:00:36Z</dcterms:modified>
</cp:coreProperties>
</file>